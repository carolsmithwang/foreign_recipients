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66" r:id="rId3"/>
    <p:sldId id="263" r:id="rId4"/>
    <p:sldId id="265" r:id="rId5"/>
    <p:sldId id="269" r:id="rId6"/>
    <p:sldId id="273" r:id="rId7"/>
    <p:sldId id="267" r:id="rId8"/>
    <p:sldId id="284" r:id="rId9"/>
    <p:sldId id="297" r:id="rId10"/>
    <p:sldId id="298" r:id="rId11"/>
    <p:sldId id="291" r:id="rId12"/>
    <p:sldId id="293" r:id="rId13"/>
    <p:sldId id="268" r:id="rId14"/>
    <p:sldId id="287" r:id="rId15"/>
    <p:sldId id="294" r:id="rId16"/>
    <p:sldId id="280" r:id="rId17"/>
    <p:sldId id="281" r:id="rId18"/>
    <p:sldId id="282" r:id="rId19"/>
    <p:sldId id="283" r:id="rId20"/>
    <p:sldId id="286" r:id="rId21"/>
    <p:sldId id="271" r:id="rId22"/>
    <p:sldId id="272" r:id="rId23"/>
    <p:sldId id="288" r:id="rId24"/>
    <p:sldId id="295" r:id="rId25"/>
    <p:sldId id="274" r:id="rId26"/>
    <p:sldId id="296" r:id="rId27"/>
    <p:sldId id="276" r:id="rId28"/>
    <p:sldId id="278" r:id="rId29"/>
    <p:sldId id="289" r:id="rId30"/>
    <p:sldId id="277" r:id="rId31"/>
    <p:sldId id="29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8249AC-A3AE-46E9-8441-D94EA4955891}" v="268" dt="2025-10-12T05:46:51.5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159" autoAdjust="0"/>
    <p:restoredTop sz="93304" autoAdjust="0"/>
  </p:normalViewPr>
  <p:slideViewPr>
    <p:cSldViewPr snapToGrid="0">
      <p:cViewPr varScale="1">
        <p:scale>
          <a:sx n="54" d="100"/>
          <a:sy n="54" d="100"/>
        </p:scale>
        <p:origin x="91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 Wang" userId="7f1cb044a8faaf6c" providerId="LiveId" clId="{D8AE8138-C3E2-4590-A0F8-699106645F85}"/>
    <pc:docChg chg="undo custSel addSld delSld modSld sldOrd">
      <pc:chgData name="Carol Wang" userId="7f1cb044a8faaf6c" providerId="LiveId" clId="{D8AE8138-C3E2-4590-A0F8-699106645F85}" dt="2025-10-12T05:47:38.547" v="8416" actId="47"/>
      <pc:docMkLst>
        <pc:docMk/>
      </pc:docMkLst>
      <pc:sldChg chg="addSp modSp mod">
        <pc:chgData name="Carol Wang" userId="7f1cb044a8faaf6c" providerId="LiveId" clId="{D8AE8138-C3E2-4590-A0F8-699106645F85}" dt="2025-10-06T04:25:51.959" v="5003" actId="20577"/>
        <pc:sldMkLst>
          <pc:docMk/>
          <pc:sldMk cId="553388428" sldId="263"/>
        </pc:sldMkLst>
        <pc:spChg chg="add mod">
          <ac:chgData name="Carol Wang" userId="7f1cb044a8faaf6c" providerId="LiveId" clId="{D8AE8138-C3E2-4590-A0F8-699106645F85}" dt="2025-10-06T04:25:51.959" v="5003" actId="20577"/>
          <ac:spMkLst>
            <pc:docMk/>
            <pc:sldMk cId="553388428" sldId="263"/>
            <ac:spMk id="12" creationId="{AA8A409B-3E7F-271E-8A00-5F50D3B62B2E}"/>
          </ac:spMkLst>
        </pc:spChg>
        <pc:spChg chg="mod">
          <ac:chgData name="Carol Wang" userId="7f1cb044a8faaf6c" providerId="LiveId" clId="{D8AE8138-C3E2-4590-A0F8-699106645F85}" dt="2025-10-06T03:08:16.484" v="4979" actId="1076"/>
          <ac:spMkLst>
            <pc:docMk/>
            <pc:sldMk cId="553388428" sldId="263"/>
            <ac:spMk id="69" creationId="{5B5AA3A5-E59B-00D1-14D3-C598E23A1CB6}"/>
          </ac:spMkLst>
        </pc:spChg>
        <pc:cxnChg chg="add mod">
          <ac:chgData name="Carol Wang" userId="7f1cb044a8faaf6c" providerId="LiveId" clId="{D8AE8138-C3E2-4590-A0F8-699106645F85}" dt="2025-10-06T04:25:32.206" v="4982" actId="14100"/>
          <ac:cxnSpMkLst>
            <pc:docMk/>
            <pc:sldMk cId="553388428" sldId="263"/>
            <ac:cxnSpMk id="2" creationId="{24109497-96B8-F919-8DEF-297D87E1DF27}"/>
          </ac:cxnSpMkLst>
        </pc:cxnChg>
        <pc:cxnChg chg="add mod">
          <ac:chgData name="Carol Wang" userId="7f1cb044a8faaf6c" providerId="LiveId" clId="{D8AE8138-C3E2-4590-A0F8-699106645F85}" dt="2025-10-06T04:25:38.974" v="4985" actId="14100"/>
          <ac:cxnSpMkLst>
            <pc:docMk/>
            <pc:sldMk cId="553388428" sldId="263"/>
            <ac:cxnSpMk id="5" creationId="{792936B6-EB29-4AF5-4DDD-E4A64AC10164}"/>
          </ac:cxnSpMkLst>
        </pc:cxnChg>
      </pc:sldChg>
      <pc:sldChg chg="modSp mod">
        <pc:chgData name="Carol Wang" userId="7f1cb044a8faaf6c" providerId="LiveId" clId="{D8AE8138-C3E2-4590-A0F8-699106645F85}" dt="2025-10-05T22:55:11.181" v="4175" actId="113"/>
        <pc:sldMkLst>
          <pc:docMk/>
          <pc:sldMk cId="1143889890" sldId="266"/>
        </pc:sldMkLst>
        <pc:spChg chg="mod">
          <ac:chgData name="Carol Wang" userId="7f1cb044a8faaf6c" providerId="LiveId" clId="{D8AE8138-C3E2-4590-A0F8-699106645F85}" dt="2025-10-05T22:55:11.181" v="4175" actId="113"/>
          <ac:spMkLst>
            <pc:docMk/>
            <pc:sldMk cId="1143889890" sldId="266"/>
            <ac:spMk id="12" creationId="{167AD215-77DD-0CBC-29E1-549C3B766377}"/>
          </ac:spMkLst>
        </pc:spChg>
      </pc:sldChg>
      <pc:sldChg chg="modSp mod">
        <pc:chgData name="Carol Wang" userId="7f1cb044a8faaf6c" providerId="LiveId" clId="{D8AE8138-C3E2-4590-A0F8-699106645F85}" dt="2025-10-12T05:20:29.232" v="7996" actId="20577"/>
        <pc:sldMkLst>
          <pc:docMk/>
          <pc:sldMk cId="3592033943" sldId="267"/>
        </pc:sldMkLst>
        <pc:spChg chg="mod">
          <ac:chgData name="Carol Wang" userId="7f1cb044a8faaf6c" providerId="LiveId" clId="{D8AE8138-C3E2-4590-A0F8-699106645F85}" dt="2025-10-12T05:20:29.232" v="7996" actId="20577"/>
          <ac:spMkLst>
            <pc:docMk/>
            <pc:sldMk cId="3592033943" sldId="267"/>
            <ac:spMk id="12" creationId="{02E0212F-A6FF-6009-039C-C50DDB5A71C8}"/>
          </ac:spMkLst>
        </pc:spChg>
      </pc:sldChg>
      <pc:sldChg chg="addSp delSp modSp mod ord modNotesTx">
        <pc:chgData name="Carol Wang" userId="7f1cb044a8faaf6c" providerId="LiveId" clId="{D8AE8138-C3E2-4590-A0F8-699106645F85}" dt="2025-10-09T06:39:24.546" v="7206" actId="27636"/>
        <pc:sldMkLst>
          <pc:docMk/>
          <pc:sldMk cId="1593156160" sldId="268"/>
        </pc:sldMkLst>
        <pc:spChg chg="add mod">
          <ac:chgData name="Carol Wang" userId="7f1cb044a8faaf6c" providerId="LiveId" clId="{D8AE8138-C3E2-4590-A0F8-699106645F85}" dt="2025-10-09T06:31:17.897" v="6935" actId="14100"/>
          <ac:spMkLst>
            <pc:docMk/>
            <pc:sldMk cId="1593156160" sldId="268"/>
            <ac:spMk id="2" creationId="{73983B02-0C43-320E-67D4-89C5EDD328C5}"/>
          </ac:spMkLst>
        </pc:spChg>
        <pc:spChg chg="mod">
          <ac:chgData name="Carol Wang" userId="7f1cb044a8faaf6c" providerId="LiveId" clId="{D8AE8138-C3E2-4590-A0F8-699106645F85}" dt="2025-10-09T06:39:24.546" v="7206" actId="27636"/>
          <ac:spMkLst>
            <pc:docMk/>
            <pc:sldMk cId="1593156160" sldId="268"/>
            <ac:spMk id="19" creationId="{12C58E72-9E93-BB05-FFED-5E41B4B52552}"/>
          </ac:spMkLst>
        </pc:spChg>
        <pc:picChg chg="mod">
          <ac:chgData name="Carol Wang" userId="7f1cb044a8faaf6c" providerId="LiveId" clId="{D8AE8138-C3E2-4590-A0F8-699106645F85}" dt="2025-10-09T06:31:19.893" v="6936" actId="1076"/>
          <ac:picMkLst>
            <pc:docMk/>
            <pc:sldMk cId="1593156160" sldId="268"/>
            <ac:picMk id="3" creationId="{675BB15C-7F8F-AEF6-9F96-2AEB616C8E71}"/>
          </ac:picMkLst>
        </pc:picChg>
      </pc:sldChg>
      <pc:sldChg chg="modSp mod modNotesTx">
        <pc:chgData name="Carol Wang" userId="7f1cb044a8faaf6c" providerId="LiveId" clId="{D8AE8138-C3E2-4590-A0F8-699106645F85}" dt="2025-10-12T05:19:39.207" v="7927" actId="20577"/>
        <pc:sldMkLst>
          <pc:docMk/>
          <pc:sldMk cId="1283997160" sldId="269"/>
        </pc:sldMkLst>
        <pc:spChg chg="mod">
          <ac:chgData name="Carol Wang" userId="7f1cb044a8faaf6c" providerId="LiveId" clId="{D8AE8138-C3E2-4590-A0F8-699106645F85}" dt="2025-10-12T05:19:39.207" v="7927" actId="20577"/>
          <ac:spMkLst>
            <pc:docMk/>
            <pc:sldMk cId="1283997160" sldId="269"/>
            <ac:spMk id="12" creationId="{A041839D-2D6D-57C5-7E63-DFBF6316E73E}"/>
          </ac:spMkLst>
        </pc:spChg>
        <pc:spChg chg="mod">
          <ac:chgData name="Carol Wang" userId="7f1cb044a8faaf6c" providerId="LiveId" clId="{D8AE8138-C3E2-4590-A0F8-699106645F85}" dt="2025-10-12T05:19:32.605" v="7925" actId="1076"/>
          <ac:spMkLst>
            <pc:docMk/>
            <pc:sldMk cId="1283997160" sldId="269"/>
            <ac:spMk id="19" creationId="{48AE9D6C-F9A4-86CF-DC66-5E3ACBD3A3B8}"/>
          </ac:spMkLst>
        </pc:spChg>
      </pc:sldChg>
      <pc:sldChg chg="del">
        <pc:chgData name="Carol Wang" userId="7f1cb044a8faaf6c" providerId="LiveId" clId="{D8AE8138-C3E2-4590-A0F8-699106645F85}" dt="2025-10-05T05:34:15.889" v="669" actId="2696"/>
        <pc:sldMkLst>
          <pc:docMk/>
          <pc:sldMk cId="3955425477" sldId="270"/>
        </pc:sldMkLst>
      </pc:sldChg>
      <pc:sldChg chg="modSp mod">
        <pc:chgData name="Carol Wang" userId="7f1cb044a8faaf6c" providerId="LiveId" clId="{D8AE8138-C3E2-4590-A0F8-699106645F85}" dt="2025-10-09T06:41:20.824" v="7365" actId="27636"/>
        <pc:sldMkLst>
          <pc:docMk/>
          <pc:sldMk cId="1261973404" sldId="271"/>
        </pc:sldMkLst>
        <pc:spChg chg="mod">
          <ac:chgData name="Carol Wang" userId="7f1cb044a8faaf6c" providerId="LiveId" clId="{D8AE8138-C3E2-4590-A0F8-699106645F85}" dt="2025-10-05T06:28:38.731" v="2116" actId="20577"/>
          <ac:spMkLst>
            <pc:docMk/>
            <pc:sldMk cId="1261973404" sldId="271"/>
            <ac:spMk id="5" creationId="{290761D5-D68B-F71C-54B1-0DD4F88C26A6}"/>
          </ac:spMkLst>
        </pc:spChg>
        <pc:spChg chg="mod">
          <ac:chgData name="Carol Wang" userId="7f1cb044a8faaf6c" providerId="LiveId" clId="{D8AE8138-C3E2-4590-A0F8-699106645F85}" dt="2025-10-09T06:41:20.824" v="7365" actId="27636"/>
          <ac:spMkLst>
            <pc:docMk/>
            <pc:sldMk cId="1261973404" sldId="271"/>
            <ac:spMk id="19" creationId="{8CC56B99-DE10-77CD-CFB2-F35D025173B6}"/>
          </ac:spMkLst>
        </pc:spChg>
      </pc:sldChg>
      <pc:sldChg chg="modSp mod">
        <pc:chgData name="Carol Wang" userId="7f1cb044a8faaf6c" providerId="LiveId" clId="{D8AE8138-C3E2-4590-A0F8-699106645F85}" dt="2025-10-09T06:42:39.133" v="7481" actId="20577"/>
        <pc:sldMkLst>
          <pc:docMk/>
          <pc:sldMk cId="2491188141" sldId="272"/>
        </pc:sldMkLst>
        <pc:spChg chg="mod">
          <ac:chgData name="Carol Wang" userId="7f1cb044a8faaf6c" providerId="LiveId" clId="{D8AE8138-C3E2-4590-A0F8-699106645F85}" dt="2025-10-09T06:42:39.133" v="7481" actId="20577"/>
          <ac:spMkLst>
            <pc:docMk/>
            <pc:sldMk cId="2491188141" sldId="272"/>
            <ac:spMk id="5" creationId="{E9C0EF7F-7560-52DB-90B6-A0FF7023044F}"/>
          </ac:spMkLst>
        </pc:spChg>
        <pc:spChg chg="mod">
          <ac:chgData name="Carol Wang" userId="7f1cb044a8faaf6c" providerId="LiveId" clId="{D8AE8138-C3E2-4590-A0F8-699106645F85}" dt="2025-10-09T06:41:33.597" v="7382" actId="20577"/>
          <ac:spMkLst>
            <pc:docMk/>
            <pc:sldMk cId="2491188141" sldId="272"/>
            <ac:spMk id="19" creationId="{AB784B27-AF19-4C91-601A-69AEF0723726}"/>
          </ac:spMkLst>
        </pc:spChg>
      </pc:sldChg>
      <pc:sldChg chg="modSp mod">
        <pc:chgData name="Carol Wang" userId="7f1cb044a8faaf6c" providerId="LiveId" clId="{D8AE8138-C3E2-4590-A0F8-699106645F85}" dt="2025-10-12T05:19:53.641" v="7944" actId="20577"/>
        <pc:sldMkLst>
          <pc:docMk/>
          <pc:sldMk cId="569186196" sldId="273"/>
        </pc:sldMkLst>
        <pc:spChg chg="mod">
          <ac:chgData name="Carol Wang" userId="7f1cb044a8faaf6c" providerId="LiveId" clId="{D8AE8138-C3E2-4590-A0F8-699106645F85}" dt="2025-10-12T05:19:53.641" v="7944" actId="20577"/>
          <ac:spMkLst>
            <pc:docMk/>
            <pc:sldMk cId="569186196" sldId="273"/>
            <ac:spMk id="12" creationId="{4B2E2F32-3218-08F7-CED9-AEC9A345888D}"/>
          </ac:spMkLst>
        </pc:spChg>
      </pc:sldChg>
      <pc:sldChg chg="addSp delSp modSp mod">
        <pc:chgData name="Carol Wang" userId="7f1cb044a8faaf6c" providerId="LiveId" clId="{D8AE8138-C3E2-4590-A0F8-699106645F85}" dt="2025-10-09T06:46:59.025" v="7728" actId="1076"/>
        <pc:sldMkLst>
          <pc:docMk/>
          <pc:sldMk cId="1259441576" sldId="274"/>
        </pc:sldMkLst>
        <pc:spChg chg="mod">
          <ac:chgData name="Carol Wang" userId="7f1cb044a8faaf6c" providerId="LiveId" clId="{D8AE8138-C3E2-4590-A0F8-699106645F85}" dt="2025-10-09T06:46:37.873" v="7694" actId="255"/>
          <ac:spMkLst>
            <pc:docMk/>
            <pc:sldMk cId="1259441576" sldId="274"/>
            <ac:spMk id="5" creationId="{FCFF66BD-9BFE-95F8-7B95-FBAB7D9D7B58}"/>
          </ac:spMkLst>
        </pc:spChg>
        <pc:spChg chg="mod">
          <ac:chgData name="Carol Wang" userId="7f1cb044a8faaf6c" providerId="LiveId" clId="{D8AE8138-C3E2-4590-A0F8-699106645F85}" dt="2025-10-05T06:29:10.528" v="2122" actId="20577"/>
          <ac:spMkLst>
            <pc:docMk/>
            <pc:sldMk cId="1259441576" sldId="274"/>
            <ac:spMk id="19" creationId="{9BFD5E03-B5D2-A1EE-9CBF-BF3223F9D717}"/>
          </ac:spMkLst>
        </pc:spChg>
        <pc:picChg chg="add mod">
          <ac:chgData name="Carol Wang" userId="7f1cb044a8faaf6c" providerId="LiveId" clId="{D8AE8138-C3E2-4590-A0F8-699106645F85}" dt="2025-10-09T06:46:59.025" v="7728" actId="1076"/>
          <ac:picMkLst>
            <pc:docMk/>
            <pc:sldMk cId="1259441576" sldId="274"/>
            <ac:picMk id="2" creationId="{7B20BEDB-1ABA-C38A-20B6-0E9F10F1C783}"/>
          </ac:picMkLst>
        </pc:picChg>
      </pc:sldChg>
      <pc:sldChg chg="del">
        <pc:chgData name="Carol Wang" userId="7f1cb044a8faaf6c" providerId="LiveId" clId="{D8AE8138-C3E2-4590-A0F8-699106645F85}" dt="2025-10-05T22:38:00.805" v="2570" actId="2696"/>
        <pc:sldMkLst>
          <pc:docMk/>
          <pc:sldMk cId="2810959450" sldId="275"/>
        </pc:sldMkLst>
      </pc:sldChg>
      <pc:sldChg chg="modSp add mod">
        <pc:chgData name="Carol Wang" userId="7f1cb044a8faaf6c" providerId="LiveId" clId="{D8AE8138-C3E2-4590-A0F8-699106645F85}" dt="2025-10-12T05:47:21.831" v="8414" actId="20577"/>
        <pc:sldMkLst>
          <pc:docMk/>
          <pc:sldMk cId="2511339821" sldId="276"/>
        </pc:sldMkLst>
        <pc:spChg chg="mod">
          <ac:chgData name="Carol Wang" userId="7f1cb044a8faaf6c" providerId="LiveId" clId="{D8AE8138-C3E2-4590-A0F8-699106645F85}" dt="2025-10-12T05:47:21.831" v="8414" actId="20577"/>
          <ac:spMkLst>
            <pc:docMk/>
            <pc:sldMk cId="2511339821" sldId="276"/>
            <ac:spMk id="19" creationId="{6DFB8305-B919-8F54-9D83-709E2A3DB857}"/>
          </ac:spMkLst>
        </pc:spChg>
      </pc:sldChg>
      <pc:sldChg chg="modSp del mod">
        <pc:chgData name="Carol Wang" userId="7f1cb044a8faaf6c" providerId="LiveId" clId="{D8AE8138-C3E2-4590-A0F8-699106645F85}" dt="2025-10-12T05:46:39.549" v="8409" actId="2696"/>
        <pc:sldMkLst>
          <pc:docMk/>
          <pc:sldMk cId="2692319814" sldId="276"/>
        </pc:sldMkLst>
        <pc:spChg chg="mod">
          <ac:chgData name="Carol Wang" userId="7f1cb044a8faaf6c" providerId="LiveId" clId="{D8AE8138-C3E2-4590-A0F8-699106645F85}" dt="2025-10-09T06:48:34.115" v="7832" actId="20577"/>
          <ac:spMkLst>
            <pc:docMk/>
            <pc:sldMk cId="2692319814" sldId="276"/>
            <ac:spMk id="19" creationId="{6DFB8305-B919-8F54-9D83-709E2A3DB857}"/>
          </ac:spMkLst>
        </pc:spChg>
      </pc:sldChg>
      <pc:sldChg chg="addSp modSp mod">
        <pc:chgData name="Carol Wang" userId="7f1cb044a8faaf6c" providerId="LiveId" clId="{D8AE8138-C3E2-4590-A0F8-699106645F85}" dt="2025-10-05T22:52:32" v="4170" actId="1076"/>
        <pc:sldMkLst>
          <pc:docMk/>
          <pc:sldMk cId="2637420892" sldId="277"/>
        </pc:sldMkLst>
        <pc:spChg chg="add mod">
          <ac:chgData name="Carol Wang" userId="7f1cb044a8faaf6c" providerId="LiveId" clId="{D8AE8138-C3E2-4590-A0F8-699106645F85}" dt="2025-10-05T22:52:32" v="4170" actId="1076"/>
          <ac:spMkLst>
            <pc:docMk/>
            <pc:sldMk cId="2637420892" sldId="277"/>
            <ac:spMk id="4" creationId="{FEA4B973-2037-BC4F-AD3B-48CF23F5478D}"/>
          </ac:spMkLst>
        </pc:spChg>
        <pc:spChg chg="mod">
          <ac:chgData name="Carol Wang" userId="7f1cb044a8faaf6c" providerId="LiveId" clId="{D8AE8138-C3E2-4590-A0F8-699106645F85}" dt="2025-10-05T22:52:03.500" v="4163" actId="21"/>
          <ac:spMkLst>
            <pc:docMk/>
            <pc:sldMk cId="2637420892" sldId="277"/>
            <ac:spMk id="19" creationId="{C48C76B1-94B1-4123-35D6-CADEE8E68421}"/>
          </ac:spMkLst>
        </pc:spChg>
        <pc:picChg chg="mod">
          <ac:chgData name="Carol Wang" userId="7f1cb044a8faaf6c" providerId="LiveId" clId="{D8AE8138-C3E2-4590-A0F8-699106645F85}" dt="2025-10-05T22:52:29.857" v="4169" actId="1076"/>
          <ac:picMkLst>
            <pc:docMk/>
            <pc:sldMk cId="2637420892" sldId="277"/>
            <ac:picMk id="3" creationId="{17D98EAF-E240-4234-51AD-BD1D5EF819EC}"/>
          </ac:picMkLst>
        </pc:picChg>
      </pc:sldChg>
      <pc:sldChg chg="modSp add mod">
        <pc:chgData name="Carol Wang" userId="7f1cb044a8faaf6c" providerId="LiveId" clId="{D8AE8138-C3E2-4590-A0F8-699106645F85}" dt="2025-10-12T05:47:27.080" v="8415" actId="20577"/>
        <pc:sldMkLst>
          <pc:docMk/>
          <pc:sldMk cId="2136543538" sldId="278"/>
        </pc:sldMkLst>
        <pc:spChg chg="mod">
          <ac:chgData name="Carol Wang" userId="7f1cb044a8faaf6c" providerId="LiveId" clId="{D8AE8138-C3E2-4590-A0F8-699106645F85}" dt="2025-10-12T05:47:27.080" v="8415" actId="20577"/>
          <ac:spMkLst>
            <pc:docMk/>
            <pc:sldMk cId="2136543538" sldId="278"/>
            <ac:spMk id="19" creationId="{892CB789-31F9-FB51-387F-36CB3F0EEA7D}"/>
          </ac:spMkLst>
        </pc:spChg>
      </pc:sldChg>
      <pc:sldChg chg="addSp delSp modSp del mod">
        <pc:chgData name="Carol Wang" userId="7f1cb044a8faaf6c" providerId="LiveId" clId="{D8AE8138-C3E2-4590-A0F8-699106645F85}" dt="2025-10-12T05:46:39.549" v="8409" actId="2696"/>
        <pc:sldMkLst>
          <pc:docMk/>
          <pc:sldMk cId="2678604989" sldId="278"/>
        </pc:sldMkLst>
        <pc:spChg chg="mod">
          <ac:chgData name="Carol Wang" userId="7f1cb044a8faaf6c" providerId="LiveId" clId="{D8AE8138-C3E2-4590-A0F8-699106645F85}" dt="2025-10-09T06:48:37.023" v="7834" actId="20577"/>
          <ac:spMkLst>
            <pc:docMk/>
            <pc:sldMk cId="2678604989" sldId="278"/>
            <ac:spMk id="19" creationId="{892CB789-31F9-FB51-387F-36CB3F0EEA7D}"/>
          </ac:spMkLst>
        </pc:spChg>
        <pc:picChg chg="add mod">
          <ac:chgData name="Carol Wang" userId="7f1cb044a8faaf6c" providerId="LiveId" clId="{D8AE8138-C3E2-4590-A0F8-699106645F85}" dt="2025-10-09T06:03:28.464" v="5986" actId="1076"/>
          <ac:picMkLst>
            <pc:docMk/>
            <pc:sldMk cId="2678604989" sldId="278"/>
            <ac:picMk id="3" creationId="{0A4C57D0-0AAC-E487-DEDC-B26EC0FC4039}"/>
          </ac:picMkLst>
        </pc:picChg>
        <pc:picChg chg="add mod">
          <ac:chgData name="Carol Wang" userId="7f1cb044a8faaf6c" providerId="LiveId" clId="{D8AE8138-C3E2-4590-A0F8-699106645F85}" dt="2025-10-09T06:03:33.744" v="5988" actId="1076"/>
          <ac:picMkLst>
            <pc:docMk/>
            <pc:sldMk cId="2678604989" sldId="278"/>
            <ac:picMk id="7" creationId="{B9078DF2-DC78-369C-E91E-C192BF012449}"/>
          </ac:picMkLst>
        </pc:picChg>
      </pc:sldChg>
      <pc:sldChg chg="delSp modSp del mod">
        <pc:chgData name="Carol Wang" userId="7f1cb044a8faaf6c" providerId="LiveId" clId="{D8AE8138-C3E2-4590-A0F8-699106645F85}" dt="2025-10-12T05:47:38.547" v="8416" actId="47"/>
        <pc:sldMkLst>
          <pc:docMk/>
          <pc:sldMk cId="4109646852" sldId="279"/>
        </pc:sldMkLst>
        <pc:spChg chg="mod">
          <ac:chgData name="Carol Wang" userId="7f1cb044a8faaf6c" providerId="LiveId" clId="{D8AE8138-C3E2-4590-A0F8-699106645F85}" dt="2025-10-09T06:48:26.444" v="7828" actId="20577"/>
          <ac:spMkLst>
            <pc:docMk/>
            <pc:sldMk cId="4109646852" sldId="279"/>
            <ac:spMk id="19" creationId="{69F8D2D4-77A1-353A-1B75-E886791B2E7F}"/>
          </ac:spMkLst>
        </pc:spChg>
      </pc:sldChg>
      <pc:sldChg chg="modSp add mod">
        <pc:chgData name="Carol Wang" userId="7f1cb044a8faaf6c" providerId="LiveId" clId="{D8AE8138-C3E2-4590-A0F8-699106645F85}" dt="2025-10-12T05:45:50.463" v="8405" actId="20577"/>
        <pc:sldMkLst>
          <pc:docMk/>
          <pc:sldMk cId="625053873" sldId="280"/>
        </pc:sldMkLst>
        <pc:spChg chg="mod">
          <ac:chgData name="Carol Wang" userId="7f1cb044a8faaf6c" providerId="LiveId" clId="{D8AE8138-C3E2-4590-A0F8-699106645F85}" dt="2025-10-12T05:45:50.463" v="8405" actId="20577"/>
          <ac:spMkLst>
            <pc:docMk/>
            <pc:sldMk cId="625053873" sldId="280"/>
            <ac:spMk id="19" creationId="{5B039664-CAD3-DDA9-EE3C-560E03AEB57E}"/>
          </ac:spMkLst>
        </pc:spChg>
      </pc:sldChg>
      <pc:sldChg chg="modSp del mod">
        <pc:chgData name="Carol Wang" userId="7f1cb044a8faaf6c" providerId="LiveId" clId="{D8AE8138-C3E2-4590-A0F8-699106645F85}" dt="2025-10-12T05:45:09.377" v="8385" actId="2696"/>
        <pc:sldMkLst>
          <pc:docMk/>
          <pc:sldMk cId="2434448105" sldId="280"/>
        </pc:sldMkLst>
        <pc:spChg chg="mod">
          <ac:chgData name="Carol Wang" userId="7f1cb044a8faaf6c" providerId="LiveId" clId="{D8AE8138-C3E2-4590-A0F8-699106645F85}" dt="2025-10-09T06:48:40.253" v="7836" actId="20577"/>
          <ac:spMkLst>
            <pc:docMk/>
            <pc:sldMk cId="2434448105" sldId="280"/>
            <ac:spMk id="19" creationId="{5B039664-CAD3-DDA9-EE3C-560E03AEB57E}"/>
          </ac:spMkLst>
        </pc:spChg>
      </pc:sldChg>
      <pc:sldChg chg="modSp del mod">
        <pc:chgData name="Carol Wang" userId="7f1cb044a8faaf6c" providerId="LiveId" clId="{D8AE8138-C3E2-4590-A0F8-699106645F85}" dt="2025-10-12T05:45:09.377" v="8385" actId="2696"/>
        <pc:sldMkLst>
          <pc:docMk/>
          <pc:sldMk cId="1137921234" sldId="281"/>
        </pc:sldMkLst>
        <pc:spChg chg="mod">
          <ac:chgData name="Carol Wang" userId="7f1cb044a8faaf6c" providerId="LiveId" clId="{D8AE8138-C3E2-4590-A0F8-699106645F85}" dt="2025-10-09T06:48:43.455" v="7838" actId="20577"/>
          <ac:spMkLst>
            <pc:docMk/>
            <pc:sldMk cId="1137921234" sldId="281"/>
            <ac:spMk id="19" creationId="{C2638B2D-1C9A-CEE3-C4A5-81581F9E60A5}"/>
          </ac:spMkLst>
        </pc:spChg>
      </pc:sldChg>
      <pc:sldChg chg="modSp add">
        <pc:chgData name="Carol Wang" userId="7f1cb044a8faaf6c" providerId="LiveId" clId="{D8AE8138-C3E2-4590-A0F8-699106645F85}" dt="2025-10-12T05:45:57.768" v="8406"/>
        <pc:sldMkLst>
          <pc:docMk/>
          <pc:sldMk cId="4055651622" sldId="281"/>
        </pc:sldMkLst>
        <pc:spChg chg="mod">
          <ac:chgData name="Carol Wang" userId="7f1cb044a8faaf6c" providerId="LiveId" clId="{D8AE8138-C3E2-4590-A0F8-699106645F85}" dt="2025-10-12T05:45:57.768" v="8406"/>
          <ac:spMkLst>
            <pc:docMk/>
            <pc:sldMk cId="4055651622" sldId="281"/>
            <ac:spMk id="19" creationId="{C2638B2D-1C9A-CEE3-C4A5-81581F9E60A5}"/>
          </ac:spMkLst>
        </pc:spChg>
      </pc:sldChg>
      <pc:sldChg chg="modSp add">
        <pc:chgData name="Carol Wang" userId="7f1cb044a8faaf6c" providerId="LiveId" clId="{D8AE8138-C3E2-4590-A0F8-699106645F85}" dt="2025-10-12T05:46:03.655" v="8407"/>
        <pc:sldMkLst>
          <pc:docMk/>
          <pc:sldMk cId="3224693447" sldId="282"/>
        </pc:sldMkLst>
        <pc:spChg chg="mod">
          <ac:chgData name="Carol Wang" userId="7f1cb044a8faaf6c" providerId="LiveId" clId="{D8AE8138-C3E2-4590-A0F8-699106645F85}" dt="2025-10-12T05:46:03.655" v="8407"/>
          <ac:spMkLst>
            <pc:docMk/>
            <pc:sldMk cId="3224693447" sldId="282"/>
            <ac:spMk id="19" creationId="{CF61682F-3CA3-4FA8-0339-99690BE9E1AA}"/>
          </ac:spMkLst>
        </pc:spChg>
      </pc:sldChg>
      <pc:sldChg chg="modSp del mod">
        <pc:chgData name="Carol Wang" userId="7f1cb044a8faaf6c" providerId="LiveId" clId="{D8AE8138-C3E2-4590-A0F8-699106645F85}" dt="2025-10-12T05:45:09.377" v="8385" actId="2696"/>
        <pc:sldMkLst>
          <pc:docMk/>
          <pc:sldMk cId="4240981180" sldId="282"/>
        </pc:sldMkLst>
        <pc:spChg chg="mod">
          <ac:chgData name="Carol Wang" userId="7f1cb044a8faaf6c" providerId="LiveId" clId="{D8AE8138-C3E2-4590-A0F8-699106645F85}" dt="2025-10-09T06:48:46.423" v="7840" actId="20577"/>
          <ac:spMkLst>
            <pc:docMk/>
            <pc:sldMk cId="4240981180" sldId="282"/>
            <ac:spMk id="19" creationId="{CF61682F-3CA3-4FA8-0339-99690BE9E1AA}"/>
          </ac:spMkLst>
        </pc:spChg>
      </pc:sldChg>
      <pc:sldChg chg="modSp add">
        <pc:chgData name="Carol Wang" userId="7f1cb044a8faaf6c" providerId="LiveId" clId="{D8AE8138-C3E2-4590-A0F8-699106645F85}" dt="2025-10-12T05:46:07.940" v="8408"/>
        <pc:sldMkLst>
          <pc:docMk/>
          <pc:sldMk cId="246038533" sldId="283"/>
        </pc:sldMkLst>
        <pc:spChg chg="mod">
          <ac:chgData name="Carol Wang" userId="7f1cb044a8faaf6c" providerId="LiveId" clId="{D8AE8138-C3E2-4590-A0F8-699106645F85}" dt="2025-10-12T05:46:07.940" v="8408"/>
          <ac:spMkLst>
            <pc:docMk/>
            <pc:sldMk cId="246038533" sldId="283"/>
            <ac:spMk id="19" creationId="{FB2D62D0-B775-F613-7B5B-D7AACC35796C}"/>
          </ac:spMkLst>
        </pc:spChg>
      </pc:sldChg>
      <pc:sldChg chg="modSp del mod">
        <pc:chgData name="Carol Wang" userId="7f1cb044a8faaf6c" providerId="LiveId" clId="{D8AE8138-C3E2-4590-A0F8-699106645F85}" dt="2025-10-12T05:45:09.377" v="8385" actId="2696"/>
        <pc:sldMkLst>
          <pc:docMk/>
          <pc:sldMk cId="520997229" sldId="283"/>
        </pc:sldMkLst>
        <pc:spChg chg="mod">
          <ac:chgData name="Carol Wang" userId="7f1cb044a8faaf6c" providerId="LiveId" clId="{D8AE8138-C3E2-4590-A0F8-699106645F85}" dt="2025-10-09T06:48:49.311" v="7842" actId="20577"/>
          <ac:spMkLst>
            <pc:docMk/>
            <pc:sldMk cId="520997229" sldId="283"/>
            <ac:spMk id="19" creationId="{FB2D62D0-B775-F613-7B5B-D7AACC35796C}"/>
          </ac:spMkLst>
        </pc:spChg>
      </pc:sldChg>
      <pc:sldChg chg="modSp add mod">
        <pc:chgData name="Carol Wang" userId="7f1cb044a8faaf6c" providerId="LiveId" clId="{D8AE8138-C3E2-4590-A0F8-699106645F85}" dt="2025-10-12T05:26:25.874" v="8291" actId="20577"/>
        <pc:sldMkLst>
          <pc:docMk/>
          <pc:sldMk cId="1698982918" sldId="284"/>
        </pc:sldMkLst>
        <pc:spChg chg="mod">
          <ac:chgData name="Carol Wang" userId="7f1cb044a8faaf6c" providerId="LiveId" clId="{D8AE8138-C3E2-4590-A0F8-699106645F85}" dt="2025-10-12T05:26:25.874" v="8291" actId="20577"/>
          <ac:spMkLst>
            <pc:docMk/>
            <pc:sldMk cId="1698982918" sldId="284"/>
            <ac:spMk id="12" creationId="{BA3D7C8B-9DE9-0CF3-6357-797D84362583}"/>
          </ac:spMkLst>
        </pc:spChg>
        <pc:spChg chg="mod">
          <ac:chgData name="Carol Wang" userId="7f1cb044a8faaf6c" providerId="LiveId" clId="{D8AE8138-C3E2-4590-A0F8-699106645F85}" dt="2025-10-05T04:46:21.611" v="13" actId="20577"/>
          <ac:spMkLst>
            <pc:docMk/>
            <pc:sldMk cId="1698982918" sldId="284"/>
            <ac:spMk id="19" creationId="{2C2C58DA-33A2-7E03-015C-3625189ADD2B}"/>
          </ac:spMkLst>
        </pc:spChg>
      </pc:sldChg>
      <pc:sldChg chg="delSp modSp add del mod">
        <pc:chgData name="Carol Wang" userId="7f1cb044a8faaf6c" providerId="LiveId" clId="{D8AE8138-C3E2-4590-A0F8-699106645F85}" dt="2025-10-09T06:38:47.713" v="7177" actId="2696"/>
        <pc:sldMkLst>
          <pc:docMk/>
          <pc:sldMk cId="1283624418" sldId="285"/>
        </pc:sldMkLst>
      </pc:sldChg>
      <pc:sldChg chg="delSp modSp add mod">
        <pc:chgData name="Carol Wang" userId="7f1cb044a8faaf6c" providerId="LiveId" clId="{D8AE8138-C3E2-4590-A0F8-699106645F85}" dt="2025-10-09T06:41:04.382" v="7343" actId="20577"/>
        <pc:sldMkLst>
          <pc:docMk/>
          <pc:sldMk cId="2076775857" sldId="286"/>
        </pc:sldMkLst>
        <pc:spChg chg="mod">
          <ac:chgData name="Carol Wang" userId="7f1cb044a8faaf6c" providerId="LiveId" clId="{D8AE8138-C3E2-4590-A0F8-699106645F85}" dt="2025-10-09T06:41:04.382" v="7343" actId="20577"/>
          <ac:spMkLst>
            <pc:docMk/>
            <pc:sldMk cId="2076775857" sldId="286"/>
            <ac:spMk id="12" creationId="{FE3C0AF2-67C5-32E7-0A17-2C0A8C406628}"/>
          </ac:spMkLst>
        </pc:spChg>
        <pc:spChg chg="mod">
          <ac:chgData name="Carol Wang" userId="7f1cb044a8faaf6c" providerId="LiveId" clId="{D8AE8138-C3E2-4590-A0F8-699106645F85}" dt="2025-10-09T06:38:59.199" v="7199" actId="27636"/>
          <ac:spMkLst>
            <pc:docMk/>
            <pc:sldMk cId="2076775857" sldId="286"/>
            <ac:spMk id="19" creationId="{508EC8F5-1804-C02B-DDCD-8772525B3F0B}"/>
          </ac:spMkLst>
        </pc:spChg>
      </pc:sldChg>
      <pc:sldChg chg="addSp delSp modSp add mod ord">
        <pc:chgData name="Carol Wang" userId="7f1cb044a8faaf6c" providerId="LiveId" clId="{D8AE8138-C3E2-4590-A0F8-699106645F85}" dt="2025-10-09T06:39:15.838" v="7204" actId="27636"/>
        <pc:sldMkLst>
          <pc:docMk/>
          <pc:sldMk cId="4053567471" sldId="287"/>
        </pc:sldMkLst>
        <pc:spChg chg="add mod">
          <ac:chgData name="Carol Wang" userId="7f1cb044a8faaf6c" providerId="LiveId" clId="{D8AE8138-C3E2-4590-A0F8-699106645F85}" dt="2025-10-09T06:38:09.583" v="7171" actId="20577"/>
          <ac:spMkLst>
            <pc:docMk/>
            <pc:sldMk cId="4053567471" sldId="287"/>
            <ac:spMk id="2" creationId="{EB2DE088-8FA3-FE94-9C03-14A55BCF298A}"/>
          </ac:spMkLst>
        </pc:spChg>
        <pc:spChg chg="mod">
          <ac:chgData name="Carol Wang" userId="7f1cb044a8faaf6c" providerId="LiveId" clId="{D8AE8138-C3E2-4590-A0F8-699106645F85}" dt="2025-10-09T06:39:15.838" v="7204" actId="27636"/>
          <ac:spMkLst>
            <pc:docMk/>
            <pc:sldMk cId="4053567471" sldId="287"/>
            <ac:spMk id="19" creationId="{47F0E017-B81D-7FE0-3DBD-BB952F0A8A22}"/>
          </ac:spMkLst>
        </pc:spChg>
        <pc:picChg chg="add mod">
          <ac:chgData name="Carol Wang" userId="7f1cb044a8faaf6c" providerId="LiveId" clId="{D8AE8138-C3E2-4590-A0F8-699106645F85}" dt="2025-10-09T06:31:25.764" v="6937" actId="1076"/>
          <ac:picMkLst>
            <pc:docMk/>
            <pc:sldMk cId="4053567471" sldId="287"/>
            <ac:picMk id="4" creationId="{3E1B1478-7E6F-C4C4-8EF2-238D03FEA4E1}"/>
          </ac:picMkLst>
        </pc:picChg>
      </pc:sldChg>
      <pc:sldChg chg="addSp delSp modSp add mod">
        <pc:chgData name="Carol Wang" userId="7f1cb044a8faaf6c" providerId="LiveId" clId="{D8AE8138-C3E2-4590-A0F8-699106645F85}" dt="2025-10-12T05:33:01.317" v="8338" actId="20577"/>
        <pc:sldMkLst>
          <pc:docMk/>
          <pc:sldMk cId="3310260214" sldId="288"/>
        </pc:sldMkLst>
        <pc:spChg chg="mod">
          <ac:chgData name="Carol Wang" userId="7f1cb044a8faaf6c" providerId="LiveId" clId="{D8AE8138-C3E2-4590-A0F8-699106645F85}" dt="2025-10-12T05:33:01.317" v="8338" actId="20577"/>
          <ac:spMkLst>
            <pc:docMk/>
            <pc:sldMk cId="3310260214" sldId="288"/>
            <ac:spMk id="5" creationId="{F9743D17-9168-47BD-F3E3-FB89A89CA23C}"/>
          </ac:spMkLst>
        </pc:spChg>
        <pc:spChg chg="mod">
          <ac:chgData name="Carol Wang" userId="7f1cb044a8faaf6c" providerId="LiveId" clId="{D8AE8138-C3E2-4590-A0F8-699106645F85}" dt="2025-10-05T22:27:57.936" v="2454" actId="1076"/>
          <ac:spMkLst>
            <pc:docMk/>
            <pc:sldMk cId="3310260214" sldId="288"/>
            <ac:spMk id="12" creationId="{01C24F05-9196-4663-930B-B4B04A8A74A3}"/>
          </ac:spMkLst>
        </pc:spChg>
      </pc:sldChg>
      <pc:sldChg chg="addSp delSp modSp add mod">
        <pc:chgData name="Carol Wang" userId="7f1cb044a8faaf6c" providerId="LiveId" clId="{D8AE8138-C3E2-4590-A0F8-699106645F85}" dt="2025-10-12T05:39:24.549" v="8361" actId="20577"/>
        <pc:sldMkLst>
          <pc:docMk/>
          <pc:sldMk cId="3319206250" sldId="289"/>
        </pc:sldMkLst>
        <pc:spChg chg="mod">
          <ac:chgData name="Carol Wang" userId="7f1cb044a8faaf6c" providerId="LiveId" clId="{D8AE8138-C3E2-4590-A0F8-699106645F85}" dt="2025-10-12T05:39:24.549" v="8361" actId="20577"/>
          <ac:spMkLst>
            <pc:docMk/>
            <pc:sldMk cId="3319206250" sldId="289"/>
            <ac:spMk id="19" creationId="{7CFFB663-B1CC-E991-FA7C-90042BE41F63}"/>
          </ac:spMkLst>
        </pc:spChg>
      </pc:sldChg>
      <pc:sldChg chg="modSp add mod">
        <pc:chgData name="Carol Wang" userId="7f1cb044a8faaf6c" providerId="LiveId" clId="{D8AE8138-C3E2-4590-A0F8-699106645F85}" dt="2025-10-05T22:52:41.903" v="4172" actId="1076"/>
        <pc:sldMkLst>
          <pc:docMk/>
          <pc:sldMk cId="409830820" sldId="290"/>
        </pc:sldMkLst>
        <pc:spChg chg="mod">
          <ac:chgData name="Carol Wang" userId="7f1cb044a8faaf6c" providerId="LiveId" clId="{D8AE8138-C3E2-4590-A0F8-699106645F85}" dt="2025-10-05T22:52:16.360" v="4166" actId="1076"/>
          <ac:spMkLst>
            <pc:docMk/>
            <pc:sldMk cId="409830820" sldId="290"/>
            <ac:spMk id="12" creationId="{F50B8CD6-110C-5B2C-E47E-8CF3D36D6176}"/>
          </ac:spMkLst>
        </pc:spChg>
        <pc:spChg chg="mod">
          <ac:chgData name="Carol Wang" userId="7f1cb044a8faaf6c" providerId="LiveId" clId="{D8AE8138-C3E2-4590-A0F8-699106645F85}" dt="2025-10-05T22:52:41.903" v="4172" actId="1076"/>
          <ac:spMkLst>
            <pc:docMk/>
            <pc:sldMk cId="409830820" sldId="290"/>
            <ac:spMk id="19" creationId="{D0A15D0E-C0B0-32FD-3F34-B6D7CA101A39}"/>
          </ac:spMkLst>
        </pc:spChg>
      </pc:sldChg>
      <pc:sldChg chg="modSp add mod">
        <pc:chgData name="Carol Wang" userId="7f1cb044a8faaf6c" providerId="LiveId" clId="{D8AE8138-C3E2-4590-A0F8-699106645F85}" dt="2025-10-09T06:39:38.670" v="7210" actId="27636"/>
        <pc:sldMkLst>
          <pc:docMk/>
          <pc:sldMk cId="3533699414" sldId="291"/>
        </pc:sldMkLst>
        <pc:spChg chg="mod">
          <ac:chgData name="Carol Wang" userId="7f1cb044a8faaf6c" providerId="LiveId" clId="{D8AE8138-C3E2-4590-A0F8-699106645F85}" dt="2025-10-09T06:27:14.083" v="6218" actId="113"/>
          <ac:spMkLst>
            <pc:docMk/>
            <pc:sldMk cId="3533699414" sldId="291"/>
            <ac:spMk id="12" creationId="{A9BF7E3A-FFEC-121C-44D2-CC9EB8C928C4}"/>
          </ac:spMkLst>
        </pc:spChg>
        <pc:spChg chg="mod">
          <ac:chgData name="Carol Wang" userId="7f1cb044a8faaf6c" providerId="LiveId" clId="{D8AE8138-C3E2-4590-A0F8-699106645F85}" dt="2025-10-09T06:39:38.670" v="7210" actId="27636"/>
          <ac:spMkLst>
            <pc:docMk/>
            <pc:sldMk cId="3533699414" sldId="291"/>
            <ac:spMk id="19" creationId="{C8F48C23-9AEB-C336-F5CC-9675B8972C90}"/>
          </ac:spMkLst>
        </pc:spChg>
      </pc:sldChg>
      <pc:sldChg chg="addSp delSp modSp add del mod">
        <pc:chgData name="Carol Wang" userId="7f1cb044a8faaf6c" providerId="LiveId" clId="{D8AE8138-C3E2-4590-A0F8-699106645F85}" dt="2025-10-12T05:47:38.547" v="8416" actId="47"/>
        <pc:sldMkLst>
          <pc:docMk/>
          <pc:sldMk cId="3784151983" sldId="292"/>
        </pc:sldMkLst>
        <pc:spChg chg="mod">
          <ac:chgData name="Carol Wang" userId="7f1cb044a8faaf6c" providerId="LiveId" clId="{D8AE8138-C3E2-4590-A0F8-699106645F85}" dt="2025-10-09T06:48:30.658" v="7830" actId="20577"/>
          <ac:spMkLst>
            <pc:docMk/>
            <pc:sldMk cId="3784151983" sldId="292"/>
            <ac:spMk id="19" creationId="{C98269C2-D290-367A-DAF5-E13828DA1B3D}"/>
          </ac:spMkLst>
        </pc:spChg>
        <pc:picChg chg="add mod">
          <ac:chgData name="Carol Wang" userId="7f1cb044a8faaf6c" providerId="LiveId" clId="{D8AE8138-C3E2-4590-A0F8-699106645F85}" dt="2025-10-09T06:15:04.287" v="6093" actId="1076"/>
          <ac:picMkLst>
            <pc:docMk/>
            <pc:sldMk cId="3784151983" sldId="292"/>
            <ac:picMk id="5" creationId="{65F91CBC-D1FA-7DF3-61A4-CF614E5AFD26}"/>
          </ac:picMkLst>
        </pc:picChg>
        <pc:picChg chg="add mod">
          <ac:chgData name="Carol Wang" userId="7f1cb044a8faaf6c" providerId="LiveId" clId="{D8AE8138-C3E2-4590-A0F8-699106645F85}" dt="2025-10-09T06:16:40.797" v="6097" actId="1076"/>
          <ac:picMkLst>
            <pc:docMk/>
            <pc:sldMk cId="3784151983" sldId="292"/>
            <ac:picMk id="7" creationId="{9622270E-898C-E1DE-22C8-9B5BF1A09732}"/>
          </ac:picMkLst>
        </pc:picChg>
      </pc:sldChg>
      <pc:sldChg chg="modSp add mod">
        <pc:chgData name="Carol Wang" userId="7f1cb044a8faaf6c" providerId="LiveId" clId="{D8AE8138-C3E2-4590-A0F8-699106645F85}" dt="2025-10-09T06:39:32.386" v="7208" actId="27636"/>
        <pc:sldMkLst>
          <pc:docMk/>
          <pc:sldMk cId="3299103211" sldId="293"/>
        </pc:sldMkLst>
        <pc:spChg chg="mod">
          <ac:chgData name="Carol Wang" userId="7f1cb044a8faaf6c" providerId="LiveId" clId="{D8AE8138-C3E2-4590-A0F8-699106645F85}" dt="2025-10-09T06:30:50.235" v="6854" actId="20577"/>
          <ac:spMkLst>
            <pc:docMk/>
            <pc:sldMk cId="3299103211" sldId="293"/>
            <ac:spMk id="12" creationId="{4373EA6B-0852-9833-92AE-333B51D68713}"/>
          </ac:spMkLst>
        </pc:spChg>
        <pc:spChg chg="mod">
          <ac:chgData name="Carol Wang" userId="7f1cb044a8faaf6c" providerId="LiveId" clId="{D8AE8138-C3E2-4590-A0F8-699106645F85}" dt="2025-10-09T06:39:32.386" v="7208" actId="27636"/>
          <ac:spMkLst>
            <pc:docMk/>
            <pc:sldMk cId="3299103211" sldId="293"/>
            <ac:spMk id="19" creationId="{E5971305-EA93-CEDC-4680-48F2676ADE95}"/>
          </ac:spMkLst>
        </pc:spChg>
      </pc:sldChg>
      <pc:sldChg chg="addSp delSp modSp add mod">
        <pc:chgData name="Carol Wang" userId="7f1cb044a8faaf6c" providerId="LiveId" clId="{D8AE8138-C3E2-4590-A0F8-699106645F85}" dt="2025-10-09T06:39:08.739" v="7202" actId="27636"/>
        <pc:sldMkLst>
          <pc:docMk/>
          <pc:sldMk cId="2264722733" sldId="294"/>
        </pc:sldMkLst>
        <pc:spChg chg="mod">
          <ac:chgData name="Carol Wang" userId="7f1cb044a8faaf6c" providerId="LiveId" clId="{D8AE8138-C3E2-4590-A0F8-699106645F85}" dt="2025-10-09T06:38:22.360" v="7175" actId="20577"/>
          <ac:spMkLst>
            <pc:docMk/>
            <pc:sldMk cId="2264722733" sldId="294"/>
            <ac:spMk id="2" creationId="{6D678141-ECB4-64B9-9E51-AB4150E311B3}"/>
          </ac:spMkLst>
        </pc:spChg>
        <pc:spChg chg="mod">
          <ac:chgData name="Carol Wang" userId="7f1cb044a8faaf6c" providerId="LiveId" clId="{D8AE8138-C3E2-4590-A0F8-699106645F85}" dt="2025-10-09T06:39:08.739" v="7202" actId="27636"/>
          <ac:spMkLst>
            <pc:docMk/>
            <pc:sldMk cId="2264722733" sldId="294"/>
            <ac:spMk id="19" creationId="{5E6E2627-4497-C8B3-F930-7CA1C7B7305F}"/>
          </ac:spMkLst>
        </pc:spChg>
        <pc:picChg chg="add mod">
          <ac:chgData name="Carol Wang" userId="7f1cb044a8faaf6c" providerId="LiveId" clId="{D8AE8138-C3E2-4590-A0F8-699106645F85}" dt="2025-10-09T06:37:45.275" v="7081" actId="14100"/>
          <ac:picMkLst>
            <pc:docMk/>
            <pc:sldMk cId="2264722733" sldId="294"/>
            <ac:picMk id="5" creationId="{3F18D70A-4AC8-65DD-2083-7F3DC15876F1}"/>
          </ac:picMkLst>
        </pc:picChg>
      </pc:sldChg>
      <pc:sldChg chg="modSp add mod">
        <pc:chgData name="Carol Wang" userId="7f1cb044a8faaf6c" providerId="LiveId" clId="{D8AE8138-C3E2-4590-A0F8-699106645F85}" dt="2025-10-09T06:46:10.491" v="7690" actId="1076"/>
        <pc:sldMkLst>
          <pc:docMk/>
          <pc:sldMk cId="2353200232" sldId="295"/>
        </pc:sldMkLst>
        <pc:spChg chg="mod">
          <ac:chgData name="Carol Wang" userId="7f1cb044a8faaf6c" providerId="LiveId" clId="{D8AE8138-C3E2-4590-A0F8-699106645F85}" dt="2025-10-09T06:46:08.265" v="7689" actId="20577"/>
          <ac:spMkLst>
            <pc:docMk/>
            <pc:sldMk cId="2353200232" sldId="295"/>
            <ac:spMk id="5" creationId="{79506B78-8259-C1E3-BE1B-6C1F9FE572FE}"/>
          </ac:spMkLst>
        </pc:spChg>
        <pc:picChg chg="mod">
          <ac:chgData name="Carol Wang" userId="7f1cb044a8faaf6c" providerId="LiveId" clId="{D8AE8138-C3E2-4590-A0F8-699106645F85}" dt="2025-10-09T06:46:10.491" v="7690" actId="1076"/>
          <ac:picMkLst>
            <pc:docMk/>
            <pc:sldMk cId="2353200232" sldId="295"/>
            <ac:picMk id="3" creationId="{F6EB7553-2EE2-58A0-6B03-2A7F72423D0E}"/>
          </ac:picMkLst>
        </pc:picChg>
      </pc:sldChg>
      <pc:sldChg chg="add del">
        <pc:chgData name="Carol Wang" userId="7f1cb044a8faaf6c" providerId="LiveId" clId="{D8AE8138-C3E2-4590-A0F8-699106645F85}" dt="2025-10-09T06:38:39.232" v="7176" actId="2696"/>
        <pc:sldMkLst>
          <pc:docMk/>
          <pc:sldMk cId="3535122625" sldId="295"/>
        </pc:sldMkLst>
      </pc:sldChg>
      <pc:sldChg chg="delSp modSp add mod">
        <pc:chgData name="Carol Wang" userId="7f1cb044a8faaf6c" providerId="LiveId" clId="{D8AE8138-C3E2-4590-A0F8-699106645F85}" dt="2025-10-09T06:47:03.840" v="7729" actId="1076"/>
        <pc:sldMkLst>
          <pc:docMk/>
          <pc:sldMk cId="3593992202" sldId="296"/>
        </pc:sldMkLst>
        <pc:spChg chg="mod">
          <ac:chgData name="Carol Wang" userId="7f1cb044a8faaf6c" providerId="LiveId" clId="{D8AE8138-C3E2-4590-A0F8-699106645F85}" dt="2025-10-09T06:47:03.840" v="7729" actId="1076"/>
          <ac:spMkLst>
            <pc:docMk/>
            <pc:sldMk cId="3593992202" sldId="296"/>
            <ac:spMk id="5" creationId="{7F57B8ED-60B0-FE52-9389-D8581D2CEBF6}"/>
          </ac:spMkLst>
        </pc:spChg>
      </pc:sldChg>
      <pc:sldChg chg="modSp add mod">
        <pc:chgData name="Carol Wang" userId="7f1cb044a8faaf6c" providerId="LiveId" clId="{D8AE8138-C3E2-4590-A0F8-699106645F85}" dt="2025-10-12T05:43:23.295" v="8380" actId="20577"/>
        <pc:sldMkLst>
          <pc:docMk/>
          <pc:sldMk cId="2863936237" sldId="297"/>
        </pc:sldMkLst>
        <pc:spChg chg="mod">
          <ac:chgData name="Carol Wang" userId="7f1cb044a8faaf6c" providerId="LiveId" clId="{D8AE8138-C3E2-4590-A0F8-699106645F85}" dt="2025-10-12T05:43:23.295" v="8380" actId="20577"/>
          <ac:spMkLst>
            <pc:docMk/>
            <pc:sldMk cId="2863936237" sldId="297"/>
            <ac:spMk id="19" creationId="{968414E5-A3E6-F548-3809-EA5A1374CD2D}"/>
          </ac:spMkLst>
        </pc:spChg>
      </pc:sldChg>
      <pc:sldChg chg="addSp delSp modSp add mod">
        <pc:chgData name="Carol Wang" userId="7f1cb044a8faaf6c" providerId="LiveId" clId="{D8AE8138-C3E2-4590-A0F8-699106645F85}" dt="2025-10-12T05:44:13.238" v="8384"/>
        <pc:sldMkLst>
          <pc:docMk/>
          <pc:sldMk cId="2198515976" sldId="298"/>
        </pc:sldMkLst>
        <pc:spChg chg="add mod">
          <ac:chgData name="Carol Wang" userId="7f1cb044a8faaf6c" providerId="LiveId" clId="{D8AE8138-C3E2-4590-A0F8-699106645F85}" dt="2025-10-12T05:44:13.238" v="8384"/>
          <ac:spMkLst>
            <pc:docMk/>
            <pc:sldMk cId="2198515976" sldId="298"/>
            <ac:spMk id="2" creationId="{6EF552AA-1C4D-2408-DB19-89A8509DA335}"/>
          </ac:spMkLst>
        </pc:spChg>
        <pc:spChg chg="del mod">
          <ac:chgData name="Carol Wang" userId="7f1cb044a8faaf6c" providerId="LiveId" clId="{D8AE8138-C3E2-4590-A0F8-699106645F85}" dt="2025-10-12T05:44:12.433" v="8383" actId="478"/>
          <ac:spMkLst>
            <pc:docMk/>
            <pc:sldMk cId="2198515976" sldId="298"/>
            <ac:spMk id="19" creationId="{05FFCB1A-3D72-BB95-E7E0-02963D3EBC2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8C9E1-7DF3-41B5-B987-480371C4561A}" type="datetimeFigureOut">
              <a:rPr lang="en-US" smtClean="0"/>
              <a:t>10/11/2025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0A19AE-D60C-4938-86DE-9DD7A080F48D}" type="slidenum">
              <a:rPr lang="en-US" smtClean="0"/>
              <a:t>‹#›</a:t>
            </a:fld>
            <a:endParaRPr lang="en-US"/>
          </a:p>
        </p:txBody>
      </p:sp>
    </p:spTree>
    <p:extLst>
      <p:ext uri="{BB962C8B-B14F-4D97-AF65-F5344CB8AC3E}">
        <p14:creationId xmlns:p14="http://schemas.microsoft.com/office/powerpoint/2010/main" val="3374106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60C61-FFF7-AE11-7A0E-6B7165B45A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5B45DB-15A9-569E-B96A-FF90B421F4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125470-8471-A007-7C5A-79CEEE498C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ABE848-90D4-E8C6-1D75-15B2A638656D}"/>
              </a:ext>
            </a:extLst>
          </p:cNvPr>
          <p:cNvSpPr>
            <a:spLocks noGrp="1"/>
          </p:cNvSpPr>
          <p:nvPr>
            <p:ph type="sldNum" sz="quarter" idx="5"/>
          </p:nvPr>
        </p:nvSpPr>
        <p:spPr/>
        <p:txBody>
          <a:bodyPr/>
          <a:lstStyle/>
          <a:p>
            <a:fld id="{9414032F-CBA0-4192-BDC2-DF885CC616FE}" type="slidenum">
              <a:rPr lang="en-US" smtClean="0"/>
              <a:t>2</a:t>
            </a:fld>
            <a:endParaRPr lang="en-US"/>
          </a:p>
        </p:txBody>
      </p:sp>
    </p:spTree>
    <p:extLst>
      <p:ext uri="{BB962C8B-B14F-4D97-AF65-F5344CB8AC3E}">
        <p14:creationId xmlns:p14="http://schemas.microsoft.com/office/powerpoint/2010/main" val="40768467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14032F-CBA0-4192-BDC2-DF885CC616FE}" type="slidenum">
              <a:rPr lang="en-US" smtClean="0"/>
              <a:t>3</a:t>
            </a:fld>
            <a:endParaRPr lang="en-US"/>
          </a:p>
        </p:txBody>
      </p:sp>
    </p:spTree>
    <p:extLst>
      <p:ext uri="{BB962C8B-B14F-4D97-AF65-F5344CB8AC3E}">
        <p14:creationId xmlns:p14="http://schemas.microsoft.com/office/powerpoint/2010/main" val="1416431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B5BB3-BAF8-34A3-D2AF-CFC204768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B2133-E9BD-E2C9-A411-F76AF4B8B8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6DFB0-B915-8311-AC3E-562E63596C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A41FA1-130E-B9D0-59E1-B8B1A27FC812}"/>
              </a:ext>
            </a:extLst>
          </p:cNvPr>
          <p:cNvSpPr>
            <a:spLocks noGrp="1"/>
          </p:cNvSpPr>
          <p:nvPr>
            <p:ph type="sldNum" sz="quarter" idx="5"/>
          </p:nvPr>
        </p:nvSpPr>
        <p:spPr/>
        <p:txBody>
          <a:bodyPr/>
          <a:lstStyle/>
          <a:p>
            <a:fld id="{9414032F-CBA0-4192-BDC2-DF885CC616FE}" type="slidenum">
              <a:rPr lang="en-US" smtClean="0"/>
              <a:t>4</a:t>
            </a:fld>
            <a:endParaRPr lang="en-US"/>
          </a:p>
        </p:txBody>
      </p:sp>
    </p:spTree>
    <p:extLst>
      <p:ext uri="{BB962C8B-B14F-4D97-AF65-F5344CB8AC3E}">
        <p14:creationId xmlns:p14="http://schemas.microsoft.com/office/powerpoint/2010/main" val="1725017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997C6-F57F-35FE-3110-DD3947E29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34B5C-4752-82CE-20DC-02DD851544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B8B8C-38F2-A683-2AEC-8946D210184F}"/>
              </a:ext>
            </a:extLst>
          </p:cNvPr>
          <p:cNvSpPr>
            <a:spLocks noGrp="1"/>
          </p:cNvSpPr>
          <p:nvPr>
            <p:ph type="body" idx="1"/>
          </p:nvPr>
        </p:nvSpPr>
        <p:spPr/>
        <p:txBody>
          <a:bodyPr/>
          <a:lstStyle/>
          <a:p>
            <a:r>
              <a:rPr lang="en-US" b="1" dirty="0"/>
              <a:t>Unit of observation?</a:t>
            </a:r>
          </a:p>
        </p:txBody>
      </p:sp>
      <p:sp>
        <p:nvSpPr>
          <p:cNvPr id="4" name="Slide Number Placeholder 3">
            <a:extLst>
              <a:ext uri="{FF2B5EF4-FFF2-40B4-BE49-F238E27FC236}">
                <a16:creationId xmlns:a16="http://schemas.microsoft.com/office/drawing/2014/main" id="{FD661270-7F88-EC9F-D14B-8954CE5FE246}"/>
              </a:ext>
            </a:extLst>
          </p:cNvPr>
          <p:cNvSpPr>
            <a:spLocks noGrp="1"/>
          </p:cNvSpPr>
          <p:nvPr>
            <p:ph type="sldNum" sz="quarter" idx="5"/>
          </p:nvPr>
        </p:nvSpPr>
        <p:spPr/>
        <p:txBody>
          <a:bodyPr/>
          <a:lstStyle/>
          <a:p>
            <a:fld id="{9414032F-CBA0-4192-BDC2-DF885CC616FE}" type="slidenum">
              <a:rPr lang="en-US" smtClean="0"/>
              <a:t>5</a:t>
            </a:fld>
            <a:endParaRPr lang="en-US"/>
          </a:p>
        </p:txBody>
      </p:sp>
    </p:spTree>
    <p:extLst>
      <p:ext uri="{BB962C8B-B14F-4D97-AF65-F5344CB8AC3E}">
        <p14:creationId xmlns:p14="http://schemas.microsoft.com/office/powerpoint/2010/main" val="22654770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5B98E-CC07-C8B9-D13C-158D26A15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75EEB7-CCE6-0767-BAE8-BF8CA1D80B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8C666A-7B1B-A06D-F352-89997816B4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F491A0-6D7A-AB26-339E-E8D7E7141F51}"/>
              </a:ext>
            </a:extLst>
          </p:cNvPr>
          <p:cNvSpPr>
            <a:spLocks noGrp="1"/>
          </p:cNvSpPr>
          <p:nvPr>
            <p:ph type="sldNum" sz="quarter" idx="5"/>
          </p:nvPr>
        </p:nvSpPr>
        <p:spPr/>
        <p:txBody>
          <a:bodyPr/>
          <a:lstStyle/>
          <a:p>
            <a:fld id="{9414032F-CBA0-4192-BDC2-DF885CC616FE}" type="slidenum">
              <a:rPr lang="en-US" smtClean="0"/>
              <a:t>6</a:t>
            </a:fld>
            <a:endParaRPr lang="en-US"/>
          </a:p>
        </p:txBody>
      </p:sp>
    </p:spTree>
    <p:extLst>
      <p:ext uri="{BB962C8B-B14F-4D97-AF65-F5344CB8AC3E}">
        <p14:creationId xmlns:p14="http://schemas.microsoft.com/office/powerpoint/2010/main" val="1152791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6AEE7-FE60-C76A-9608-95D460DFA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AB77E-0FAB-5467-0980-44BFD707D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DFF45-319D-D336-EB40-59A6F2808C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C34ADC-8842-C5EC-4CAE-E8C230793457}"/>
              </a:ext>
            </a:extLst>
          </p:cNvPr>
          <p:cNvSpPr>
            <a:spLocks noGrp="1"/>
          </p:cNvSpPr>
          <p:nvPr>
            <p:ph type="sldNum" sz="quarter" idx="5"/>
          </p:nvPr>
        </p:nvSpPr>
        <p:spPr/>
        <p:txBody>
          <a:bodyPr/>
          <a:lstStyle/>
          <a:p>
            <a:fld id="{9414032F-CBA0-4192-BDC2-DF885CC616FE}" type="slidenum">
              <a:rPr lang="en-US" smtClean="0"/>
              <a:t>7</a:t>
            </a:fld>
            <a:endParaRPr lang="en-US"/>
          </a:p>
        </p:txBody>
      </p:sp>
    </p:spTree>
    <p:extLst>
      <p:ext uri="{BB962C8B-B14F-4D97-AF65-F5344CB8AC3E}">
        <p14:creationId xmlns:p14="http://schemas.microsoft.com/office/powerpoint/2010/main" val="379853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D6B6-75E3-229E-47B6-57BE1EBFD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CD335-392E-5D83-60DA-F44D124B6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5EFB05-ED07-B6F0-FF15-D9E4195DE0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37597E-0B4B-0620-CCB2-2709C0479F84}"/>
              </a:ext>
            </a:extLst>
          </p:cNvPr>
          <p:cNvSpPr>
            <a:spLocks noGrp="1"/>
          </p:cNvSpPr>
          <p:nvPr>
            <p:ph type="sldNum" sz="quarter" idx="5"/>
          </p:nvPr>
        </p:nvSpPr>
        <p:spPr/>
        <p:txBody>
          <a:bodyPr/>
          <a:lstStyle/>
          <a:p>
            <a:fld id="{9414032F-CBA0-4192-BDC2-DF885CC616FE}" type="slidenum">
              <a:rPr lang="en-US" smtClean="0"/>
              <a:t>8</a:t>
            </a:fld>
            <a:endParaRPr lang="en-US"/>
          </a:p>
        </p:txBody>
      </p:sp>
    </p:spTree>
    <p:extLst>
      <p:ext uri="{BB962C8B-B14F-4D97-AF65-F5344CB8AC3E}">
        <p14:creationId xmlns:p14="http://schemas.microsoft.com/office/powerpoint/2010/main" val="1788145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C1E0B-44AA-5545-A774-B841CB2A3B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633EA-7FE7-E69F-60E2-F3CCBDDFC5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AB8474-7F2D-A0AE-28AC-AE22955652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A99F04-82DD-7079-89C6-BEBCD75740D0}"/>
              </a:ext>
            </a:extLst>
          </p:cNvPr>
          <p:cNvSpPr>
            <a:spLocks noGrp="1"/>
          </p:cNvSpPr>
          <p:nvPr>
            <p:ph type="sldNum" sz="quarter" idx="5"/>
          </p:nvPr>
        </p:nvSpPr>
        <p:spPr/>
        <p:txBody>
          <a:bodyPr/>
          <a:lstStyle/>
          <a:p>
            <a:fld id="{9414032F-CBA0-4192-BDC2-DF885CC616FE}" type="slidenum">
              <a:rPr lang="en-US" smtClean="0"/>
              <a:t>9</a:t>
            </a:fld>
            <a:endParaRPr lang="en-US"/>
          </a:p>
        </p:txBody>
      </p:sp>
    </p:spTree>
    <p:extLst>
      <p:ext uri="{BB962C8B-B14F-4D97-AF65-F5344CB8AC3E}">
        <p14:creationId xmlns:p14="http://schemas.microsoft.com/office/powerpoint/2010/main" val="972941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6C064-B8D3-5C83-E9E6-66A77BC40D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2CD4F3-BE46-AD77-5206-0C84B29EB7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AF039-9CDA-1DE3-363A-D558AEF982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71411B-3DE8-9081-87DD-D359AFBD1F7B}"/>
              </a:ext>
            </a:extLst>
          </p:cNvPr>
          <p:cNvSpPr>
            <a:spLocks noGrp="1"/>
          </p:cNvSpPr>
          <p:nvPr>
            <p:ph type="sldNum" sz="quarter" idx="5"/>
          </p:nvPr>
        </p:nvSpPr>
        <p:spPr/>
        <p:txBody>
          <a:bodyPr/>
          <a:lstStyle/>
          <a:p>
            <a:fld id="{9414032F-CBA0-4192-BDC2-DF885CC616FE}" type="slidenum">
              <a:rPr lang="en-US" smtClean="0"/>
              <a:t>10</a:t>
            </a:fld>
            <a:endParaRPr lang="en-US"/>
          </a:p>
        </p:txBody>
      </p:sp>
    </p:spTree>
    <p:extLst>
      <p:ext uri="{BB962C8B-B14F-4D97-AF65-F5344CB8AC3E}">
        <p14:creationId xmlns:p14="http://schemas.microsoft.com/office/powerpoint/2010/main" val="3646851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87000-0B4E-277C-8D44-BD56C70D6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6BAD27-87B9-E96A-071D-82AC987ED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6388A-8794-10A5-160C-8814931ECF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E7097A-C056-21C1-AFF7-3A94968AABBE}"/>
              </a:ext>
            </a:extLst>
          </p:cNvPr>
          <p:cNvSpPr>
            <a:spLocks noGrp="1"/>
          </p:cNvSpPr>
          <p:nvPr>
            <p:ph type="sldNum" sz="quarter" idx="5"/>
          </p:nvPr>
        </p:nvSpPr>
        <p:spPr/>
        <p:txBody>
          <a:bodyPr/>
          <a:lstStyle/>
          <a:p>
            <a:fld id="{9414032F-CBA0-4192-BDC2-DF885CC616FE}" type="slidenum">
              <a:rPr lang="en-US" smtClean="0"/>
              <a:t>11</a:t>
            </a:fld>
            <a:endParaRPr lang="en-US"/>
          </a:p>
        </p:txBody>
      </p:sp>
    </p:spTree>
    <p:extLst>
      <p:ext uri="{BB962C8B-B14F-4D97-AF65-F5344CB8AC3E}">
        <p14:creationId xmlns:p14="http://schemas.microsoft.com/office/powerpoint/2010/main" val="33389141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602F4-804A-18B0-5677-F221814BC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A95B5F-C4C5-48E8-F421-CABF5CDDD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694EA-7BD8-5178-7468-FB4BB18FE6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B07800-6509-78B9-CA0C-B24E8612B8AD}"/>
              </a:ext>
            </a:extLst>
          </p:cNvPr>
          <p:cNvSpPr>
            <a:spLocks noGrp="1"/>
          </p:cNvSpPr>
          <p:nvPr>
            <p:ph type="sldNum" sz="quarter" idx="5"/>
          </p:nvPr>
        </p:nvSpPr>
        <p:spPr/>
        <p:txBody>
          <a:bodyPr/>
          <a:lstStyle/>
          <a:p>
            <a:fld id="{9414032F-CBA0-4192-BDC2-DF885CC616FE}" type="slidenum">
              <a:rPr lang="en-US" smtClean="0"/>
              <a:t>12</a:t>
            </a:fld>
            <a:endParaRPr lang="en-US"/>
          </a:p>
        </p:txBody>
      </p:sp>
    </p:spTree>
    <p:extLst>
      <p:ext uri="{BB962C8B-B14F-4D97-AF65-F5344CB8AC3E}">
        <p14:creationId xmlns:p14="http://schemas.microsoft.com/office/powerpoint/2010/main" val="1083131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D0039-8B2E-2277-91AD-F1D7EEF3F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7E73E-EA48-2E96-F2D6-446AE4AB2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8336C-32A4-6019-3AE4-FA2EEEA31A68}"/>
              </a:ext>
            </a:extLst>
          </p:cNvPr>
          <p:cNvSpPr>
            <a:spLocks noGrp="1"/>
          </p:cNvSpPr>
          <p:nvPr>
            <p:ph type="body" idx="1"/>
          </p:nvPr>
        </p:nvSpPr>
        <p:spPr/>
        <p:txBody>
          <a:bodyPr/>
          <a:lstStyle/>
          <a:p>
            <a:r>
              <a:rPr lang="en-US" dirty="0"/>
              <a:t>“Total U.S. source income” is a poor control.  “Share of total U.S. source income” is a better control if the measure is share of total interest.</a:t>
            </a:r>
          </a:p>
          <a:p>
            <a:endParaRPr lang="en-US" dirty="0"/>
          </a:p>
        </p:txBody>
      </p:sp>
      <p:sp>
        <p:nvSpPr>
          <p:cNvPr id="4" name="Slide Number Placeholder 3">
            <a:extLst>
              <a:ext uri="{FF2B5EF4-FFF2-40B4-BE49-F238E27FC236}">
                <a16:creationId xmlns:a16="http://schemas.microsoft.com/office/drawing/2014/main" id="{CB3F466A-1CFC-1AD8-187F-131C353A6710}"/>
              </a:ext>
            </a:extLst>
          </p:cNvPr>
          <p:cNvSpPr>
            <a:spLocks noGrp="1"/>
          </p:cNvSpPr>
          <p:nvPr>
            <p:ph type="sldNum" sz="quarter" idx="5"/>
          </p:nvPr>
        </p:nvSpPr>
        <p:spPr/>
        <p:txBody>
          <a:bodyPr/>
          <a:lstStyle/>
          <a:p>
            <a:fld id="{9414032F-CBA0-4192-BDC2-DF885CC616FE}" type="slidenum">
              <a:rPr lang="en-US" smtClean="0"/>
              <a:t>13</a:t>
            </a:fld>
            <a:endParaRPr lang="en-US"/>
          </a:p>
        </p:txBody>
      </p:sp>
    </p:spTree>
    <p:extLst>
      <p:ext uri="{BB962C8B-B14F-4D97-AF65-F5344CB8AC3E}">
        <p14:creationId xmlns:p14="http://schemas.microsoft.com/office/powerpoint/2010/main" val="409835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54905-48E2-EA24-4659-B1AFB783D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2CA0B3-96AD-7A6E-4170-0BAC0CBF8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01273D-B8D4-AAA0-B6AB-8F15DFAA11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F9C3DF-8FFB-30E9-7D48-1B0A912470FC}"/>
              </a:ext>
            </a:extLst>
          </p:cNvPr>
          <p:cNvSpPr>
            <a:spLocks noGrp="1"/>
          </p:cNvSpPr>
          <p:nvPr>
            <p:ph type="sldNum" sz="quarter" idx="5"/>
          </p:nvPr>
        </p:nvSpPr>
        <p:spPr/>
        <p:txBody>
          <a:bodyPr/>
          <a:lstStyle/>
          <a:p>
            <a:fld id="{9414032F-CBA0-4192-BDC2-DF885CC616FE}" type="slidenum">
              <a:rPr lang="en-US" smtClean="0"/>
              <a:t>14</a:t>
            </a:fld>
            <a:endParaRPr lang="en-US"/>
          </a:p>
        </p:txBody>
      </p:sp>
    </p:spTree>
    <p:extLst>
      <p:ext uri="{BB962C8B-B14F-4D97-AF65-F5344CB8AC3E}">
        <p14:creationId xmlns:p14="http://schemas.microsoft.com/office/powerpoint/2010/main" val="23239788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184C2-8510-4DB9-0BCB-73F616BD5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F84916-C6B0-FF2D-28F0-36053D3F7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A6F64-9630-8092-D2EE-267855DEEE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55E217-3755-C118-14FE-F78AA96875D2}"/>
              </a:ext>
            </a:extLst>
          </p:cNvPr>
          <p:cNvSpPr>
            <a:spLocks noGrp="1"/>
          </p:cNvSpPr>
          <p:nvPr>
            <p:ph type="sldNum" sz="quarter" idx="5"/>
          </p:nvPr>
        </p:nvSpPr>
        <p:spPr/>
        <p:txBody>
          <a:bodyPr/>
          <a:lstStyle/>
          <a:p>
            <a:fld id="{9414032F-CBA0-4192-BDC2-DF885CC616FE}" type="slidenum">
              <a:rPr lang="en-US" smtClean="0"/>
              <a:t>15</a:t>
            </a:fld>
            <a:endParaRPr lang="en-US"/>
          </a:p>
        </p:txBody>
      </p:sp>
    </p:spTree>
    <p:extLst>
      <p:ext uri="{BB962C8B-B14F-4D97-AF65-F5344CB8AC3E}">
        <p14:creationId xmlns:p14="http://schemas.microsoft.com/office/powerpoint/2010/main" val="29644289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1FA23-9751-BCB1-3FED-70EAEB74C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197A58-4612-801B-A65C-6C49EC388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659E1-FE81-34BE-5C2E-213A52E2EA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85702A-1B24-AE94-1611-EE28E8B62CA5}"/>
              </a:ext>
            </a:extLst>
          </p:cNvPr>
          <p:cNvSpPr>
            <a:spLocks noGrp="1"/>
          </p:cNvSpPr>
          <p:nvPr>
            <p:ph type="sldNum" sz="quarter" idx="5"/>
          </p:nvPr>
        </p:nvSpPr>
        <p:spPr/>
        <p:txBody>
          <a:bodyPr/>
          <a:lstStyle/>
          <a:p>
            <a:fld id="{9414032F-CBA0-4192-BDC2-DF885CC616FE}" type="slidenum">
              <a:rPr lang="en-US" smtClean="0"/>
              <a:t>16</a:t>
            </a:fld>
            <a:endParaRPr lang="en-US"/>
          </a:p>
        </p:txBody>
      </p:sp>
    </p:spTree>
    <p:extLst>
      <p:ext uri="{BB962C8B-B14F-4D97-AF65-F5344CB8AC3E}">
        <p14:creationId xmlns:p14="http://schemas.microsoft.com/office/powerpoint/2010/main" val="4156752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93E27-63AB-38C2-38DF-79958C605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791AE-042C-E762-4AF8-1797A2F5C9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D000B1-B166-A266-96BC-5CB96AD7AC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7C6485-E4B0-A6CC-AA56-8FD5ABE4ECF3}"/>
              </a:ext>
            </a:extLst>
          </p:cNvPr>
          <p:cNvSpPr>
            <a:spLocks noGrp="1"/>
          </p:cNvSpPr>
          <p:nvPr>
            <p:ph type="sldNum" sz="quarter" idx="5"/>
          </p:nvPr>
        </p:nvSpPr>
        <p:spPr/>
        <p:txBody>
          <a:bodyPr/>
          <a:lstStyle/>
          <a:p>
            <a:fld id="{9414032F-CBA0-4192-BDC2-DF885CC616FE}" type="slidenum">
              <a:rPr lang="en-US" smtClean="0"/>
              <a:t>17</a:t>
            </a:fld>
            <a:endParaRPr lang="en-US"/>
          </a:p>
        </p:txBody>
      </p:sp>
    </p:spTree>
    <p:extLst>
      <p:ext uri="{BB962C8B-B14F-4D97-AF65-F5344CB8AC3E}">
        <p14:creationId xmlns:p14="http://schemas.microsoft.com/office/powerpoint/2010/main" val="29381982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E796B-89CA-418D-18B7-1A5377685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45CD3-0F93-581F-8693-BC3522B3E8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3DCB9-35D4-C70E-6EB3-E8FCAC3999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DBC25C-9D61-ED31-6752-44D4277D110A}"/>
              </a:ext>
            </a:extLst>
          </p:cNvPr>
          <p:cNvSpPr>
            <a:spLocks noGrp="1"/>
          </p:cNvSpPr>
          <p:nvPr>
            <p:ph type="sldNum" sz="quarter" idx="5"/>
          </p:nvPr>
        </p:nvSpPr>
        <p:spPr/>
        <p:txBody>
          <a:bodyPr/>
          <a:lstStyle/>
          <a:p>
            <a:fld id="{9414032F-CBA0-4192-BDC2-DF885CC616FE}" type="slidenum">
              <a:rPr lang="en-US" smtClean="0"/>
              <a:t>18</a:t>
            </a:fld>
            <a:endParaRPr lang="en-US"/>
          </a:p>
        </p:txBody>
      </p:sp>
    </p:spTree>
    <p:extLst>
      <p:ext uri="{BB962C8B-B14F-4D97-AF65-F5344CB8AC3E}">
        <p14:creationId xmlns:p14="http://schemas.microsoft.com/office/powerpoint/2010/main" val="2291576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480FB-C0AF-590B-8A8F-DCA18F7D51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1D905-25D5-4F6D-F47C-1370D57C55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9CE1EF-7687-3DC4-8E08-99C610461F9D}"/>
              </a:ext>
            </a:extLst>
          </p:cNvPr>
          <p:cNvSpPr>
            <a:spLocks noGrp="1"/>
          </p:cNvSpPr>
          <p:nvPr>
            <p:ph type="body" idx="1"/>
          </p:nvPr>
        </p:nvSpPr>
        <p:spPr/>
        <p:txBody>
          <a:bodyPr/>
          <a:lstStyle/>
          <a:p>
            <a:r>
              <a:rPr lang="en-US" dirty="0"/>
              <a:t>To do: fix IRS categories, fix share of </a:t>
            </a:r>
            <a:r>
              <a:rPr lang="en-US"/>
              <a:t>total income</a:t>
            </a:r>
            <a:endParaRPr lang="en-US" dirty="0"/>
          </a:p>
        </p:txBody>
      </p:sp>
      <p:sp>
        <p:nvSpPr>
          <p:cNvPr id="4" name="Slide Number Placeholder 3">
            <a:extLst>
              <a:ext uri="{FF2B5EF4-FFF2-40B4-BE49-F238E27FC236}">
                <a16:creationId xmlns:a16="http://schemas.microsoft.com/office/drawing/2014/main" id="{B16551C4-B344-C833-7844-20B69087A680}"/>
              </a:ext>
            </a:extLst>
          </p:cNvPr>
          <p:cNvSpPr>
            <a:spLocks noGrp="1"/>
          </p:cNvSpPr>
          <p:nvPr>
            <p:ph type="sldNum" sz="quarter" idx="5"/>
          </p:nvPr>
        </p:nvSpPr>
        <p:spPr/>
        <p:txBody>
          <a:bodyPr/>
          <a:lstStyle/>
          <a:p>
            <a:fld id="{9414032F-CBA0-4192-BDC2-DF885CC616FE}" type="slidenum">
              <a:rPr lang="en-US" smtClean="0"/>
              <a:t>19</a:t>
            </a:fld>
            <a:endParaRPr lang="en-US"/>
          </a:p>
        </p:txBody>
      </p:sp>
    </p:spTree>
    <p:extLst>
      <p:ext uri="{BB962C8B-B14F-4D97-AF65-F5344CB8AC3E}">
        <p14:creationId xmlns:p14="http://schemas.microsoft.com/office/powerpoint/2010/main" val="26188155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91391-0BC1-854D-DA1D-20BB75740F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DEB797-6502-7B73-9016-9FABE9B32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3375B1-98BD-ACC9-DA39-8BF768F1DA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C2F671-1C61-7AB2-BF48-9C9247A10EFA}"/>
              </a:ext>
            </a:extLst>
          </p:cNvPr>
          <p:cNvSpPr>
            <a:spLocks noGrp="1"/>
          </p:cNvSpPr>
          <p:nvPr>
            <p:ph type="sldNum" sz="quarter" idx="5"/>
          </p:nvPr>
        </p:nvSpPr>
        <p:spPr/>
        <p:txBody>
          <a:bodyPr/>
          <a:lstStyle/>
          <a:p>
            <a:fld id="{9414032F-CBA0-4192-BDC2-DF885CC616FE}" type="slidenum">
              <a:rPr lang="en-US" smtClean="0"/>
              <a:t>20</a:t>
            </a:fld>
            <a:endParaRPr lang="en-US"/>
          </a:p>
        </p:txBody>
      </p:sp>
    </p:spTree>
    <p:extLst>
      <p:ext uri="{BB962C8B-B14F-4D97-AF65-F5344CB8AC3E}">
        <p14:creationId xmlns:p14="http://schemas.microsoft.com/office/powerpoint/2010/main" val="15645426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9182E-F6F2-9550-7C66-7DC21C87C9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5A4C2-FCDE-504F-99A5-F2154EF9A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D2AAF8-2D39-1EF7-4A04-B265FD0D6F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A602BF-2BCC-A42E-E17A-848739F35FD6}"/>
              </a:ext>
            </a:extLst>
          </p:cNvPr>
          <p:cNvSpPr>
            <a:spLocks noGrp="1"/>
          </p:cNvSpPr>
          <p:nvPr>
            <p:ph type="sldNum" sz="quarter" idx="5"/>
          </p:nvPr>
        </p:nvSpPr>
        <p:spPr/>
        <p:txBody>
          <a:bodyPr/>
          <a:lstStyle/>
          <a:p>
            <a:fld id="{9414032F-CBA0-4192-BDC2-DF885CC616FE}" type="slidenum">
              <a:rPr lang="en-US" smtClean="0"/>
              <a:t>21</a:t>
            </a:fld>
            <a:endParaRPr lang="en-US"/>
          </a:p>
        </p:txBody>
      </p:sp>
    </p:spTree>
    <p:extLst>
      <p:ext uri="{BB962C8B-B14F-4D97-AF65-F5344CB8AC3E}">
        <p14:creationId xmlns:p14="http://schemas.microsoft.com/office/powerpoint/2010/main" val="40424816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B8B55-7DBE-0880-2163-4BF83699C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77483A-2C43-2266-CB7A-4143441117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84F98E-E625-4D1B-D250-D785B07F02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9052E6-4EA9-511C-D380-BB658804995E}"/>
              </a:ext>
            </a:extLst>
          </p:cNvPr>
          <p:cNvSpPr>
            <a:spLocks noGrp="1"/>
          </p:cNvSpPr>
          <p:nvPr>
            <p:ph type="sldNum" sz="quarter" idx="5"/>
          </p:nvPr>
        </p:nvSpPr>
        <p:spPr/>
        <p:txBody>
          <a:bodyPr/>
          <a:lstStyle/>
          <a:p>
            <a:fld id="{9414032F-CBA0-4192-BDC2-DF885CC616FE}" type="slidenum">
              <a:rPr lang="en-US" smtClean="0"/>
              <a:t>22</a:t>
            </a:fld>
            <a:endParaRPr lang="en-US"/>
          </a:p>
        </p:txBody>
      </p:sp>
    </p:spTree>
    <p:extLst>
      <p:ext uri="{BB962C8B-B14F-4D97-AF65-F5344CB8AC3E}">
        <p14:creationId xmlns:p14="http://schemas.microsoft.com/office/powerpoint/2010/main" val="34008471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338B7-4011-EE4C-81C3-FF1AE0CC2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D52054-46BC-CEBE-B6CD-A18669A49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96897-1561-8800-9E26-A06AC5EB18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372C35-7235-48E6-B992-2D5E39040F91}"/>
              </a:ext>
            </a:extLst>
          </p:cNvPr>
          <p:cNvSpPr>
            <a:spLocks noGrp="1"/>
          </p:cNvSpPr>
          <p:nvPr>
            <p:ph type="sldNum" sz="quarter" idx="5"/>
          </p:nvPr>
        </p:nvSpPr>
        <p:spPr/>
        <p:txBody>
          <a:bodyPr/>
          <a:lstStyle/>
          <a:p>
            <a:fld id="{9414032F-CBA0-4192-BDC2-DF885CC616FE}" type="slidenum">
              <a:rPr lang="en-US" smtClean="0"/>
              <a:t>23</a:t>
            </a:fld>
            <a:endParaRPr lang="en-US"/>
          </a:p>
        </p:txBody>
      </p:sp>
    </p:spTree>
    <p:extLst>
      <p:ext uri="{BB962C8B-B14F-4D97-AF65-F5344CB8AC3E}">
        <p14:creationId xmlns:p14="http://schemas.microsoft.com/office/powerpoint/2010/main" val="17374156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62BE3-C2AB-B52F-7233-8BD24E0BAC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8CE56-22F9-7482-DAFC-026D4B4FA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81375B-25F8-097C-935E-54DDC41838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62504F-EC34-D812-24E5-7FD87F16DA3C}"/>
              </a:ext>
            </a:extLst>
          </p:cNvPr>
          <p:cNvSpPr>
            <a:spLocks noGrp="1"/>
          </p:cNvSpPr>
          <p:nvPr>
            <p:ph type="sldNum" sz="quarter" idx="5"/>
          </p:nvPr>
        </p:nvSpPr>
        <p:spPr/>
        <p:txBody>
          <a:bodyPr/>
          <a:lstStyle/>
          <a:p>
            <a:fld id="{9414032F-CBA0-4192-BDC2-DF885CC616FE}" type="slidenum">
              <a:rPr lang="en-US" smtClean="0"/>
              <a:t>24</a:t>
            </a:fld>
            <a:endParaRPr lang="en-US"/>
          </a:p>
        </p:txBody>
      </p:sp>
    </p:spTree>
    <p:extLst>
      <p:ext uri="{BB962C8B-B14F-4D97-AF65-F5344CB8AC3E}">
        <p14:creationId xmlns:p14="http://schemas.microsoft.com/office/powerpoint/2010/main" val="21018193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76DB7-A909-5928-734C-00BEEE38ED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163E9C-1FE3-1FF7-13FE-4F82C26961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5F7725-B6EF-D85D-3BA8-D690FA7DB0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A0B260-2E6D-84D5-E171-879025C0E257}"/>
              </a:ext>
            </a:extLst>
          </p:cNvPr>
          <p:cNvSpPr>
            <a:spLocks noGrp="1"/>
          </p:cNvSpPr>
          <p:nvPr>
            <p:ph type="sldNum" sz="quarter" idx="5"/>
          </p:nvPr>
        </p:nvSpPr>
        <p:spPr/>
        <p:txBody>
          <a:bodyPr/>
          <a:lstStyle/>
          <a:p>
            <a:fld id="{9414032F-CBA0-4192-BDC2-DF885CC616FE}" type="slidenum">
              <a:rPr lang="en-US" smtClean="0"/>
              <a:t>25</a:t>
            </a:fld>
            <a:endParaRPr lang="en-US"/>
          </a:p>
        </p:txBody>
      </p:sp>
    </p:spTree>
    <p:extLst>
      <p:ext uri="{BB962C8B-B14F-4D97-AF65-F5344CB8AC3E}">
        <p14:creationId xmlns:p14="http://schemas.microsoft.com/office/powerpoint/2010/main" val="11298461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E5577-E6B4-052A-B48A-9DFA776E6F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11D78-8E8C-608A-50A8-AEF7FB0AA0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B0B996-A0C4-3742-FBBE-74205DEEEA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D2C849-2000-E67D-9E9A-92FE12F4DE1B}"/>
              </a:ext>
            </a:extLst>
          </p:cNvPr>
          <p:cNvSpPr>
            <a:spLocks noGrp="1"/>
          </p:cNvSpPr>
          <p:nvPr>
            <p:ph type="sldNum" sz="quarter" idx="5"/>
          </p:nvPr>
        </p:nvSpPr>
        <p:spPr/>
        <p:txBody>
          <a:bodyPr/>
          <a:lstStyle/>
          <a:p>
            <a:fld id="{9414032F-CBA0-4192-BDC2-DF885CC616FE}" type="slidenum">
              <a:rPr lang="en-US" smtClean="0"/>
              <a:t>26</a:t>
            </a:fld>
            <a:endParaRPr lang="en-US"/>
          </a:p>
        </p:txBody>
      </p:sp>
    </p:spTree>
    <p:extLst>
      <p:ext uri="{BB962C8B-B14F-4D97-AF65-F5344CB8AC3E}">
        <p14:creationId xmlns:p14="http://schemas.microsoft.com/office/powerpoint/2010/main" val="37006752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45D0C-476A-BC11-BF66-0176294EE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5A8F0-2177-34D8-F2AB-644BA02A2C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F51BA4-AEC1-C44F-423D-624DF83918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07CA12-7AB6-44EE-77EC-22DB261D9600}"/>
              </a:ext>
            </a:extLst>
          </p:cNvPr>
          <p:cNvSpPr>
            <a:spLocks noGrp="1"/>
          </p:cNvSpPr>
          <p:nvPr>
            <p:ph type="sldNum" sz="quarter" idx="5"/>
          </p:nvPr>
        </p:nvSpPr>
        <p:spPr/>
        <p:txBody>
          <a:bodyPr/>
          <a:lstStyle/>
          <a:p>
            <a:fld id="{9414032F-CBA0-4192-BDC2-DF885CC616FE}" type="slidenum">
              <a:rPr lang="en-US" smtClean="0"/>
              <a:t>27</a:t>
            </a:fld>
            <a:endParaRPr lang="en-US"/>
          </a:p>
        </p:txBody>
      </p:sp>
    </p:spTree>
    <p:extLst>
      <p:ext uri="{BB962C8B-B14F-4D97-AF65-F5344CB8AC3E}">
        <p14:creationId xmlns:p14="http://schemas.microsoft.com/office/powerpoint/2010/main" val="23927539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0998C-EEC3-E245-2565-F85D2E08B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8971D2-BA1C-4BF0-E6E7-8CE2E8E414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B0B44-5F17-E8BF-0A42-5E0EBD5A5F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E35459-F391-45AD-0FB9-A3D3B2DA26A6}"/>
              </a:ext>
            </a:extLst>
          </p:cNvPr>
          <p:cNvSpPr>
            <a:spLocks noGrp="1"/>
          </p:cNvSpPr>
          <p:nvPr>
            <p:ph type="sldNum" sz="quarter" idx="5"/>
          </p:nvPr>
        </p:nvSpPr>
        <p:spPr/>
        <p:txBody>
          <a:bodyPr/>
          <a:lstStyle/>
          <a:p>
            <a:fld id="{9414032F-CBA0-4192-BDC2-DF885CC616FE}" type="slidenum">
              <a:rPr lang="en-US" smtClean="0"/>
              <a:t>28</a:t>
            </a:fld>
            <a:endParaRPr lang="en-US"/>
          </a:p>
        </p:txBody>
      </p:sp>
    </p:spTree>
    <p:extLst>
      <p:ext uri="{BB962C8B-B14F-4D97-AF65-F5344CB8AC3E}">
        <p14:creationId xmlns:p14="http://schemas.microsoft.com/office/powerpoint/2010/main" val="33351983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39DA2-92AE-862B-76D9-584AB99D9B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C0916C-FE95-C401-54BA-B77D5B2FE7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0B991A-F21E-73AC-3B1E-D37A9E1BB9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1F2B40-038A-6CC4-98FF-E6DC9D3AFB36}"/>
              </a:ext>
            </a:extLst>
          </p:cNvPr>
          <p:cNvSpPr>
            <a:spLocks noGrp="1"/>
          </p:cNvSpPr>
          <p:nvPr>
            <p:ph type="sldNum" sz="quarter" idx="5"/>
          </p:nvPr>
        </p:nvSpPr>
        <p:spPr/>
        <p:txBody>
          <a:bodyPr/>
          <a:lstStyle/>
          <a:p>
            <a:fld id="{9414032F-CBA0-4192-BDC2-DF885CC616FE}" type="slidenum">
              <a:rPr lang="en-US" smtClean="0"/>
              <a:t>29</a:t>
            </a:fld>
            <a:endParaRPr lang="en-US"/>
          </a:p>
        </p:txBody>
      </p:sp>
    </p:spTree>
    <p:extLst>
      <p:ext uri="{BB962C8B-B14F-4D97-AF65-F5344CB8AC3E}">
        <p14:creationId xmlns:p14="http://schemas.microsoft.com/office/powerpoint/2010/main" val="35332874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6C41F-91D8-EB05-953C-30F5531EC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601DD0-E1A2-BF52-DF40-F3050D355C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7FE83-B428-22AE-D1C6-AF338B24D2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E72300-BE28-B297-F54B-2BC2A51B8218}"/>
              </a:ext>
            </a:extLst>
          </p:cNvPr>
          <p:cNvSpPr>
            <a:spLocks noGrp="1"/>
          </p:cNvSpPr>
          <p:nvPr>
            <p:ph type="sldNum" sz="quarter" idx="5"/>
          </p:nvPr>
        </p:nvSpPr>
        <p:spPr/>
        <p:txBody>
          <a:bodyPr/>
          <a:lstStyle/>
          <a:p>
            <a:fld id="{9414032F-CBA0-4192-BDC2-DF885CC616FE}" type="slidenum">
              <a:rPr lang="en-US" smtClean="0"/>
              <a:t>30</a:t>
            </a:fld>
            <a:endParaRPr lang="en-US"/>
          </a:p>
        </p:txBody>
      </p:sp>
    </p:spTree>
    <p:extLst>
      <p:ext uri="{BB962C8B-B14F-4D97-AF65-F5344CB8AC3E}">
        <p14:creationId xmlns:p14="http://schemas.microsoft.com/office/powerpoint/2010/main" val="2011380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B1E96-616F-43FF-7551-24B2454F52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AEFEC-D7B7-F3BC-D875-B2106A82C4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B1813A-1CAA-7656-0311-E882A01977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952FE2-8D35-9ADC-6E2C-C0C4415B09E3}"/>
              </a:ext>
            </a:extLst>
          </p:cNvPr>
          <p:cNvSpPr>
            <a:spLocks noGrp="1"/>
          </p:cNvSpPr>
          <p:nvPr>
            <p:ph type="sldNum" sz="quarter" idx="5"/>
          </p:nvPr>
        </p:nvSpPr>
        <p:spPr/>
        <p:txBody>
          <a:bodyPr/>
          <a:lstStyle/>
          <a:p>
            <a:fld id="{9414032F-CBA0-4192-BDC2-DF885CC616FE}" type="slidenum">
              <a:rPr lang="en-US" smtClean="0"/>
              <a:t>31</a:t>
            </a:fld>
            <a:endParaRPr lang="en-US"/>
          </a:p>
        </p:txBody>
      </p:sp>
    </p:spTree>
    <p:extLst>
      <p:ext uri="{BB962C8B-B14F-4D97-AF65-F5344CB8AC3E}">
        <p14:creationId xmlns:p14="http://schemas.microsoft.com/office/powerpoint/2010/main" val="4240366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95BA5-7794-8F9F-D66A-CFC13EF5366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6C5C96-3478-9410-8229-35F53B18A4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97FADD-B614-9BCB-CD08-B590A3F97397}"/>
              </a:ext>
            </a:extLst>
          </p:cNvPr>
          <p:cNvSpPr>
            <a:spLocks noGrp="1"/>
          </p:cNvSpPr>
          <p:nvPr>
            <p:ph type="dt" sz="half" idx="10"/>
          </p:nvPr>
        </p:nvSpPr>
        <p:spPr/>
        <p:txBody>
          <a:bodyPr/>
          <a:lstStyle/>
          <a:p>
            <a:fld id="{36B470D6-64B4-43F0-B64D-CBD127BF1299}" type="datetimeFigureOut">
              <a:rPr lang="en-US" smtClean="0"/>
              <a:t>10/11/2025</a:t>
            </a:fld>
            <a:endParaRPr lang="en-US"/>
          </a:p>
        </p:txBody>
      </p:sp>
      <p:sp>
        <p:nvSpPr>
          <p:cNvPr id="5" name="Footer Placeholder 4">
            <a:extLst>
              <a:ext uri="{FF2B5EF4-FFF2-40B4-BE49-F238E27FC236}">
                <a16:creationId xmlns:a16="http://schemas.microsoft.com/office/drawing/2014/main" id="{6B407E54-E7A1-96BD-1453-7545377900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6089E0-F7A6-24AF-7E0F-2E1ECF18F722}"/>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015952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0B066-49B1-6835-F3AB-8CEE108CCA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644A0A-2BDB-FC72-8B06-49367C3921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54709D-A6FD-8B2B-0D8B-7366FD538DDE}"/>
              </a:ext>
            </a:extLst>
          </p:cNvPr>
          <p:cNvSpPr>
            <a:spLocks noGrp="1"/>
          </p:cNvSpPr>
          <p:nvPr>
            <p:ph type="dt" sz="half" idx="10"/>
          </p:nvPr>
        </p:nvSpPr>
        <p:spPr/>
        <p:txBody>
          <a:bodyPr/>
          <a:lstStyle/>
          <a:p>
            <a:fld id="{36B470D6-64B4-43F0-B64D-CBD127BF1299}" type="datetimeFigureOut">
              <a:rPr lang="en-US" smtClean="0"/>
              <a:t>10/11/2025</a:t>
            </a:fld>
            <a:endParaRPr lang="en-US"/>
          </a:p>
        </p:txBody>
      </p:sp>
      <p:sp>
        <p:nvSpPr>
          <p:cNvPr id="5" name="Footer Placeholder 4">
            <a:extLst>
              <a:ext uri="{FF2B5EF4-FFF2-40B4-BE49-F238E27FC236}">
                <a16:creationId xmlns:a16="http://schemas.microsoft.com/office/drawing/2014/main" id="{1DD921E0-6DD2-A2E8-EB88-FED9F1545C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52CA58-C4F8-806A-EF40-21844425ECF8}"/>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62856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A7573-D873-E30D-A6E1-285B5D6778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BA472C-D76D-772D-266B-046A86FA8C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1E8610-DAB2-BD09-EB97-D2E4041AC183}"/>
              </a:ext>
            </a:extLst>
          </p:cNvPr>
          <p:cNvSpPr>
            <a:spLocks noGrp="1"/>
          </p:cNvSpPr>
          <p:nvPr>
            <p:ph type="dt" sz="half" idx="10"/>
          </p:nvPr>
        </p:nvSpPr>
        <p:spPr/>
        <p:txBody>
          <a:bodyPr/>
          <a:lstStyle/>
          <a:p>
            <a:fld id="{36B470D6-64B4-43F0-B64D-CBD127BF1299}" type="datetimeFigureOut">
              <a:rPr lang="en-US" smtClean="0"/>
              <a:t>10/11/2025</a:t>
            </a:fld>
            <a:endParaRPr lang="en-US"/>
          </a:p>
        </p:txBody>
      </p:sp>
      <p:sp>
        <p:nvSpPr>
          <p:cNvPr id="5" name="Footer Placeholder 4">
            <a:extLst>
              <a:ext uri="{FF2B5EF4-FFF2-40B4-BE49-F238E27FC236}">
                <a16:creationId xmlns:a16="http://schemas.microsoft.com/office/drawing/2014/main" id="{E93AC1D5-C038-FB16-ED62-12177ECDE3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BEC2B1-388D-20E6-FF89-9FF0BF3091B7}"/>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2700097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D41D7-AD33-7E61-C06C-AB7AE816D5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B12420-AC1A-3F19-50D7-1B5CFA8CC8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40D17F-98EB-177F-81E0-CE1CB1F18E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D3DF85-AA6E-B3B9-7930-C0188F45196C}"/>
              </a:ext>
            </a:extLst>
          </p:cNvPr>
          <p:cNvSpPr>
            <a:spLocks noGrp="1"/>
          </p:cNvSpPr>
          <p:nvPr>
            <p:ph type="dt" sz="half" idx="10"/>
          </p:nvPr>
        </p:nvSpPr>
        <p:spPr/>
        <p:txBody>
          <a:bodyPr/>
          <a:lstStyle/>
          <a:p>
            <a:fld id="{36B470D6-64B4-43F0-B64D-CBD127BF1299}" type="datetimeFigureOut">
              <a:rPr lang="en-US" smtClean="0"/>
              <a:t>10/11/2025</a:t>
            </a:fld>
            <a:endParaRPr lang="en-US"/>
          </a:p>
        </p:txBody>
      </p:sp>
      <p:sp>
        <p:nvSpPr>
          <p:cNvPr id="6" name="Footer Placeholder 5">
            <a:extLst>
              <a:ext uri="{FF2B5EF4-FFF2-40B4-BE49-F238E27FC236}">
                <a16:creationId xmlns:a16="http://schemas.microsoft.com/office/drawing/2014/main" id="{DDBCF0B5-AD75-6DA4-5DC0-8900120311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18E137-AB25-AB09-1F30-2961326A31EB}"/>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4138788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FF795-F0A5-66DF-76C3-BBC79C3A8C8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295E947-6DCD-9C50-77CF-25C51D8C47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D88170-D611-D80D-AE7B-249C834953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95B344-1D07-3893-FBF7-B5B503FE569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5B555A-AE69-C33D-C0AB-C8EE42A6EE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D1EC5C-FEBF-B2F7-A385-C2ADF64F9BBC}"/>
              </a:ext>
            </a:extLst>
          </p:cNvPr>
          <p:cNvSpPr>
            <a:spLocks noGrp="1"/>
          </p:cNvSpPr>
          <p:nvPr>
            <p:ph type="dt" sz="half" idx="10"/>
          </p:nvPr>
        </p:nvSpPr>
        <p:spPr/>
        <p:txBody>
          <a:bodyPr/>
          <a:lstStyle/>
          <a:p>
            <a:fld id="{36B470D6-64B4-43F0-B64D-CBD127BF1299}" type="datetimeFigureOut">
              <a:rPr lang="en-US" smtClean="0"/>
              <a:t>10/11/2025</a:t>
            </a:fld>
            <a:endParaRPr lang="en-US"/>
          </a:p>
        </p:txBody>
      </p:sp>
      <p:sp>
        <p:nvSpPr>
          <p:cNvPr id="8" name="Footer Placeholder 7">
            <a:extLst>
              <a:ext uri="{FF2B5EF4-FFF2-40B4-BE49-F238E27FC236}">
                <a16:creationId xmlns:a16="http://schemas.microsoft.com/office/drawing/2014/main" id="{04E2DC93-DA1C-76BD-2B02-313AED0973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7D00376-DBB2-5E36-5A1A-ACCE7AF467C5}"/>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676006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87CA5-4F6C-F95B-FA08-40722112BA7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501FD9-2D6B-8FDA-6A7F-13132C0F1E19}"/>
              </a:ext>
            </a:extLst>
          </p:cNvPr>
          <p:cNvSpPr>
            <a:spLocks noGrp="1"/>
          </p:cNvSpPr>
          <p:nvPr>
            <p:ph type="dt" sz="half" idx="10"/>
          </p:nvPr>
        </p:nvSpPr>
        <p:spPr/>
        <p:txBody>
          <a:bodyPr/>
          <a:lstStyle/>
          <a:p>
            <a:fld id="{36B470D6-64B4-43F0-B64D-CBD127BF1299}" type="datetimeFigureOut">
              <a:rPr lang="en-US" smtClean="0"/>
              <a:t>10/11/2025</a:t>
            </a:fld>
            <a:endParaRPr lang="en-US"/>
          </a:p>
        </p:txBody>
      </p:sp>
      <p:sp>
        <p:nvSpPr>
          <p:cNvPr id="4" name="Footer Placeholder 3">
            <a:extLst>
              <a:ext uri="{FF2B5EF4-FFF2-40B4-BE49-F238E27FC236}">
                <a16:creationId xmlns:a16="http://schemas.microsoft.com/office/drawing/2014/main" id="{FBA2FC8E-21AE-5CBD-C5DB-48725BE8B1F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91550A1-72B2-BD92-3C3A-59CC87103168}"/>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229198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407836-8012-1A1A-5B5D-852E4E05789F}"/>
              </a:ext>
            </a:extLst>
          </p:cNvPr>
          <p:cNvSpPr>
            <a:spLocks noGrp="1"/>
          </p:cNvSpPr>
          <p:nvPr>
            <p:ph type="dt" sz="half" idx="10"/>
          </p:nvPr>
        </p:nvSpPr>
        <p:spPr/>
        <p:txBody>
          <a:bodyPr/>
          <a:lstStyle/>
          <a:p>
            <a:fld id="{36B470D6-64B4-43F0-B64D-CBD127BF1299}" type="datetimeFigureOut">
              <a:rPr lang="en-US" smtClean="0"/>
              <a:t>10/11/2025</a:t>
            </a:fld>
            <a:endParaRPr lang="en-US"/>
          </a:p>
        </p:txBody>
      </p:sp>
      <p:sp>
        <p:nvSpPr>
          <p:cNvPr id="3" name="Footer Placeholder 2">
            <a:extLst>
              <a:ext uri="{FF2B5EF4-FFF2-40B4-BE49-F238E27FC236}">
                <a16:creationId xmlns:a16="http://schemas.microsoft.com/office/drawing/2014/main" id="{06876635-76C4-4F12-4D5E-EB387ED2752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0AD4BAC-D3DA-2222-374B-0F358A787226}"/>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4232949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E1A75-5EB6-2527-008F-0A845E6E2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674C78-E907-4555-8C24-2A4EECB8A8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5AB1CCF-B34B-2F31-4276-622AA552DBB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05AB06-C8E4-E466-3BE7-F91E9FB0DA28}"/>
              </a:ext>
            </a:extLst>
          </p:cNvPr>
          <p:cNvSpPr>
            <a:spLocks noGrp="1"/>
          </p:cNvSpPr>
          <p:nvPr>
            <p:ph type="dt" sz="half" idx="10"/>
          </p:nvPr>
        </p:nvSpPr>
        <p:spPr/>
        <p:txBody>
          <a:bodyPr/>
          <a:lstStyle/>
          <a:p>
            <a:fld id="{36B470D6-64B4-43F0-B64D-CBD127BF1299}" type="datetimeFigureOut">
              <a:rPr lang="en-US" smtClean="0"/>
              <a:t>10/11/2025</a:t>
            </a:fld>
            <a:endParaRPr lang="en-US"/>
          </a:p>
        </p:txBody>
      </p:sp>
      <p:sp>
        <p:nvSpPr>
          <p:cNvPr id="6" name="Footer Placeholder 5">
            <a:extLst>
              <a:ext uri="{FF2B5EF4-FFF2-40B4-BE49-F238E27FC236}">
                <a16:creationId xmlns:a16="http://schemas.microsoft.com/office/drawing/2014/main" id="{C250C9E9-FAAC-E419-ED8C-5EBA6AE46F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30C9A0-9D4E-C647-D061-016F88C79BB0}"/>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2221407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869AC-FEAD-9DF8-59B9-1844270B13E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F343F02-01FF-84A3-A428-3772F020B3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B1E0D2-844C-6637-F3C1-D31942FF5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D8C22E-7AAB-C809-F835-AFDDC468546E}"/>
              </a:ext>
            </a:extLst>
          </p:cNvPr>
          <p:cNvSpPr>
            <a:spLocks noGrp="1"/>
          </p:cNvSpPr>
          <p:nvPr>
            <p:ph type="dt" sz="half" idx="10"/>
          </p:nvPr>
        </p:nvSpPr>
        <p:spPr/>
        <p:txBody>
          <a:bodyPr/>
          <a:lstStyle/>
          <a:p>
            <a:fld id="{36B470D6-64B4-43F0-B64D-CBD127BF1299}" type="datetimeFigureOut">
              <a:rPr lang="en-US" smtClean="0"/>
              <a:t>10/11/2025</a:t>
            </a:fld>
            <a:endParaRPr lang="en-US"/>
          </a:p>
        </p:txBody>
      </p:sp>
      <p:sp>
        <p:nvSpPr>
          <p:cNvPr id="6" name="Footer Placeholder 5">
            <a:extLst>
              <a:ext uri="{FF2B5EF4-FFF2-40B4-BE49-F238E27FC236}">
                <a16:creationId xmlns:a16="http://schemas.microsoft.com/office/drawing/2014/main" id="{6A8304E7-0C4F-9F62-987D-3AFA28BC76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F7475A-59ED-B7AD-5022-C4DF15C96F48}"/>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261933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0166A-CC25-B7C7-5F36-E74F963C75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E3186F-7E5E-F4CD-82BA-C7DB13B74A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FB62B1-E70E-40A7-30E0-FF1C9A8851C4}"/>
              </a:ext>
            </a:extLst>
          </p:cNvPr>
          <p:cNvSpPr>
            <a:spLocks noGrp="1"/>
          </p:cNvSpPr>
          <p:nvPr>
            <p:ph type="dt" sz="half" idx="10"/>
          </p:nvPr>
        </p:nvSpPr>
        <p:spPr/>
        <p:txBody>
          <a:bodyPr/>
          <a:lstStyle/>
          <a:p>
            <a:fld id="{36B470D6-64B4-43F0-B64D-CBD127BF1299}" type="datetimeFigureOut">
              <a:rPr lang="en-US" smtClean="0"/>
              <a:t>10/11/2025</a:t>
            </a:fld>
            <a:endParaRPr lang="en-US"/>
          </a:p>
        </p:txBody>
      </p:sp>
      <p:sp>
        <p:nvSpPr>
          <p:cNvPr id="5" name="Footer Placeholder 4">
            <a:extLst>
              <a:ext uri="{FF2B5EF4-FFF2-40B4-BE49-F238E27FC236}">
                <a16:creationId xmlns:a16="http://schemas.microsoft.com/office/drawing/2014/main" id="{ADA7850A-263D-86F9-464D-C848B028A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A3A576-4D61-4782-82B4-6B34FE548E98}"/>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132618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6C4A5D-52F6-F620-C6CD-0BF61B3CD4B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16BA202-20C2-5830-0AE7-3335A0D803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2A29F3-93F4-4126-632B-C814180261BE}"/>
              </a:ext>
            </a:extLst>
          </p:cNvPr>
          <p:cNvSpPr>
            <a:spLocks noGrp="1"/>
          </p:cNvSpPr>
          <p:nvPr>
            <p:ph type="dt" sz="half" idx="10"/>
          </p:nvPr>
        </p:nvSpPr>
        <p:spPr/>
        <p:txBody>
          <a:bodyPr/>
          <a:lstStyle/>
          <a:p>
            <a:fld id="{36B470D6-64B4-43F0-B64D-CBD127BF1299}" type="datetimeFigureOut">
              <a:rPr lang="en-US" smtClean="0"/>
              <a:t>10/11/2025</a:t>
            </a:fld>
            <a:endParaRPr lang="en-US"/>
          </a:p>
        </p:txBody>
      </p:sp>
      <p:sp>
        <p:nvSpPr>
          <p:cNvPr id="5" name="Footer Placeholder 4">
            <a:extLst>
              <a:ext uri="{FF2B5EF4-FFF2-40B4-BE49-F238E27FC236}">
                <a16:creationId xmlns:a16="http://schemas.microsoft.com/office/drawing/2014/main" id="{C4038871-BA62-754A-A56B-E2792B1ABA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6588F7-F740-A650-0097-AFB0929581AA}"/>
              </a:ext>
            </a:extLst>
          </p:cNvPr>
          <p:cNvSpPr>
            <a:spLocks noGrp="1"/>
          </p:cNvSpPr>
          <p:nvPr>
            <p:ph type="sldNum" sz="quarter" idx="12"/>
          </p:nvPr>
        </p:nvSpPr>
        <p:spPr/>
        <p:txBody>
          <a:bodyPr/>
          <a:lstStyle/>
          <a:p>
            <a:fld id="{891F9392-ECE3-4ED2-A752-A9DEDD01B00F}" type="slidenum">
              <a:rPr lang="en-US" smtClean="0"/>
              <a:t>‹#›</a:t>
            </a:fld>
            <a:endParaRPr lang="en-US"/>
          </a:p>
        </p:txBody>
      </p:sp>
    </p:spTree>
    <p:extLst>
      <p:ext uri="{BB962C8B-B14F-4D97-AF65-F5344CB8AC3E}">
        <p14:creationId xmlns:p14="http://schemas.microsoft.com/office/powerpoint/2010/main" val="34148172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F38A77-4006-4DD8-5F0A-E91A8BF0FF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D9FD2A1-8E26-DDBA-D1E6-ED15D6751F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DD78C-BD5D-4483-E910-D176B9C6FA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B470D6-64B4-43F0-B64D-CBD127BF1299}" type="datetimeFigureOut">
              <a:rPr lang="en-US" smtClean="0"/>
              <a:t>10/11/2025</a:t>
            </a:fld>
            <a:endParaRPr lang="en-US"/>
          </a:p>
        </p:txBody>
      </p:sp>
      <p:sp>
        <p:nvSpPr>
          <p:cNvPr id="5" name="Footer Placeholder 4">
            <a:extLst>
              <a:ext uri="{FF2B5EF4-FFF2-40B4-BE49-F238E27FC236}">
                <a16:creationId xmlns:a16="http://schemas.microsoft.com/office/drawing/2014/main" id="{C41E4540-1928-40AE-FAA4-05F767268A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EEB7D69-E429-FED6-D801-F2E5E021C1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1F9392-ECE3-4ED2-A752-A9DEDD01B00F}" type="slidenum">
              <a:rPr lang="en-US" smtClean="0"/>
              <a:t>‹#›</a:t>
            </a:fld>
            <a:endParaRPr lang="en-US"/>
          </a:p>
        </p:txBody>
      </p:sp>
    </p:spTree>
    <p:extLst>
      <p:ext uri="{BB962C8B-B14F-4D97-AF65-F5344CB8AC3E}">
        <p14:creationId xmlns:p14="http://schemas.microsoft.com/office/powerpoint/2010/main" val="22788746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irs.gov/statistics/soi-tax-stats-foreign-recipients-of-us-income-statistics"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0099A-7530-73A6-434F-8E721CD738ED}"/>
              </a:ext>
            </a:extLst>
          </p:cNvPr>
          <p:cNvSpPr>
            <a:spLocks noGrp="1"/>
          </p:cNvSpPr>
          <p:nvPr>
            <p:ph type="ctrTitle"/>
          </p:nvPr>
        </p:nvSpPr>
        <p:spPr/>
        <p:txBody>
          <a:bodyPr>
            <a:normAutofit/>
          </a:bodyPr>
          <a:lstStyle/>
          <a:p>
            <a:r>
              <a:rPr lang="en-US" sz="4000" dirty="0"/>
              <a:t>Direct lending fund structures before and after TCJA</a:t>
            </a:r>
          </a:p>
        </p:txBody>
      </p:sp>
      <p:sp>
        <p:nvSpPr>
          <p:cNvPr id="3" name="Subtitle 2">
            <a:extLst>
              <a:ext uri="{FF2B5EF4-FFF2-40B4-BE49-F238E27FC236}">
                <a16:creationId xmlns:a16="http://schemas.microsoft.com/office/drawing/2014/main" id="{7B4FAEF1-68FC-35C8-6130-FF25C3A5CF80}"/>
              </a:ext>
            </a:extLst>
          </p:cNvPr>
          <p:cNvSpPr>
            <a:spLocks noGrp="1"/>
          </p:cNvSpPr>
          <p:nvPr>
            <p:ph type="subTitle" idx="1"/>
          </p:nvPr>
        </p:nvSpPr>
        <p:spPr/>
        <p:txBody>
          <a:bodyPr/>
          <a:lstStyle/>
          <a:p>
            <a:r>
              <a:rPr lang="en-US" dirty="0"/>
              <a:t>Regression Analysis and Plots</a:t>
            </a:r>
          </a:p>
        </p:txBody>
      </p:sp>
    </p:spTree>
    <p:extLst>
      <p:ext uri="{BB962C8B-B14F-4D97-AF65-F5344CB8AC3E}">
        <p14:creationId xmlns:p14="http://schemas.microsoft.com/office/powerpoint/2010/main" val="482816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3F034-F018-1B00-59A0-EB5D64B8404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B9CDB975-E2FC-3CAD-C05D-8379FB3A74E1}"/>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Outline</a:t>
            </a:r>
            <a:endParaRPr lang="en-US" sz="2400" dirty="0"/>
          </a:p>
        </p:txBody>
      </p:sp>
      <p:sp>
        <p:nvSpPr>
          <p:cNvPr id="80" name="Slide Number Placeholder 79">
            <a:extLst>
              <a:ext uri="{FF2B5EF4-FFF2-40B4-BE49-F238E27FC236}">
                <a16:creationId xmlns:a16="http://schemas.microsoft.com/office/drawing/2014/main" id="{63C421AB-A6EE-3F40-B171-14713D52C30D}"/>
              </a:ext>
            </a:extLst>
          </p:cNvPr>
          <p:cNvSpPr>
            <a:spLocks noGrp="1"/>
          </p:cNvSpPr>
          <p:nvPr>
            <p:ph type="sldNum" sz="quarter" idx="12"/>
          </p:nvPr>
        </p:nvSpPr>
        <p:spPr/>
        <p:txBody>
          <a:bodyPr/>
          <a:lstStyle/>
          <a:p>
            <a:fld id="{ADDA9D34-D8EF-4237-948B-BB7FF2FABC7B}" type="slidenum">
              <a:rPr lang="en-US" smtClean="0"/>
              <a:t>2</a:t>
            </a:fld>
            <a:endParaRPr lang="en-US"/>
          </a:p>
        </p:txBody>
      </p:sp>
      <p:sp>
        <p:nvSpPr>
          <p:cNvPr id="12" name="TextBox 11">
            <a:extLst>
              <a:ext uri="{FF2B5EF4-FFF2-40B4-BE49-F238E27FC236}">
                <a16:creationId xmlns:a16="http://schemas.microsoft.com/office/drawing/2014/main" id="{167AD215-77DD-0CBC-29E1-549C3B766377}"/>
              </a:ext>
            </a:extLst>
          </p:cNvPr>
          <p:cNvSpPr txBox="1"/>
          <p:nvPr/>
        </p:nvSpPr>
        <p:spPr>
          <a:xfrm>
            <a:off x="621792" y="1089965"/>
            <a:ext cx="10672877" cy="3139321"/>
          </a:xfrm>
          <a:prstGeom prst="rect">
            <a:avLst/>
          </a:prstGeom>
          <a:noFill/>
        </p:spPr>
        <p:txBody>
          <a:bodyPr wrap="square" rtlCol="0">
            <a:spAutoFit/>
          </a:bodyPr>
          <a:lstStyle/>
          <a:p>
            <a:r>
              <a:rPr lang="en-US" dirty="0"/>
              <a:t>Consider how change in structures for direct lending funds (estimated AUM in 2025 is $1.8 trillion) after TCJA may be shown in IRS data</a:t>
            </a:r>
          </a:p>
          <a:p>
            <a:endParaRPr lang="en-US" dirty="0"/>
          </a:p>
          <a:p>
            <a:pPr marL="342900" indent="-342900">
              <a:buFont typeface="+mj-lt"/>
              <a:buAutoNum type="arabicPeriod"/>
            </a:pPr>
            <a:r>
              <a:rPr lang="en-US" dirty="0"/>
              <a:t>Structures (pre- and post-TCJA)</a:t>
            </a:r>
          </a:p>
          <a:p>
            <a:pPr marL="342900" indent="-342900">
              <a:buFont typeface="+mj-lt"/>
              <a:buAutoNum type="arabicPeriod"/>
            </a:pPr>
            <a:r>
              <a:rPr lang="en-US" dirty="0"/>
              <a:t>IRS data</a:t>
            </a:r>
          </a:p>
          <a:p>
            <a:pPr marL="342900" indent="-342900">
              <a:buFont typeface="+mj-lt"/>
              <a:buAutoNum type="arabicPeriod"/>
            </a:pPr>
            <a:r>
              <a:rPr lang="en-US" dirty="0"/>
              <a:t>Hypothesis</a:t>
            </a:r>
          </a:p>
          <a:p>
            <a:pPr marL="342900" indent="-342900">
              <a:buFont typeface="+mj-lt"/>
              <a:buAutoNum type="arabicPeriod"/>
            </a:pPr>
            <a:r>
              <a:rPr lang="en-US" b="1" dirty="0"/>
              <a:t>Methodology</a:t>
            </a:r>
          </a:p>
          <a:p>
            <a:pPr marL="342900" indent="-342900">
              <a:buFont typeface="+mj-lt"/>
              <a:buAutoNum type="arabicPeriod"/>
            </a:pPr>
            <a:r>
              <a:rPr lang="en-US" dirty="0"/>
              <a:t>Findings</a:t>
            </a:r>
          </a:p>
          <a:p>
            <a:pPr marL="342900" indent="-342900">
              <a:buFont typeface="+mj-lt"/>
              <a:buAutoNum type="arabicPeriod"/>
            </a:pPr>
            <a:r>
              <a:rPr lang="en-US" dirty="0"/>
              <a:t>Other interesting plots</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143889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3CAB5-27B9-30DE-CED9-E71730BC6C5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52BBED9-780F-9D3B-5E76-FFB84861AC10}"/>
              </a:ext>
            </a:extLst>
          </p:cNvPr>
          <p:cNvSpPr txBox="1">
            <a:spLocks/>
          </p:cNvSpPr>
          <p:nvPr/>
        </p:nvSpPr>
        <p:spPr>
          <a:xfrm>
            <a:off x="445187" y="-662782"/>
            <a:ext cx="6871572" cy="146634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1.  Pre TCJA structure: season-and-sell</a:t>
            </a:r>
            <a:endParaRPr lang="en-US" sz="2400" dirty="0"/>
          </a:p>
        </p:txBody>
      </p:sp>
      <p:sp>
        <p:nvSpPr>
          <p:cNvPr id="80" name="Slide Number Placeholder 79">
            <a:extLst>
              <a:ext uri="{FF2B5EF4-FFF2-40B4-BE49-F238E27FC236}">
                <a16:creationId xmlns:a16="http://schemas.microsoft.com/office/drawing/2014/main" id="{6B75B67A-1E5B-6B0D-506F-92AF6752823C}"/>
              </a:ext>
            </a:extLst>
          </p:cNvPr>
          <p:cNvSpPr>
            <a:spLocks noGrp="1"/>
          </p:cNvSpPr>
          <p:nvPr>
            <p:ph type="sldNum" sz="quarter" idx="12"/>
          </p:nvPr>
        </p:nvSpPr>
        <p:spPr/>
        <p:txBody>
          <a:bodyPr/>
          <a:lstStyle/>
          <a:p>
            <a:fld id="{ADDA9D34-D8EF-4237-948B-BB7FF2FABC7B}" type="slidenum">
              <a:rPr lang="en-US" smtClean="0"/>
              <a:t>3</a:t>
            </a:fld>
            <a:endParaRPr lang="en-US"/>
          </a:p>
        </p:txBody>
      </p:sp>
      <p:sp>
        <p:nvSpPr>
          <p:cNvPr id="6" name="Oval 5">
            <a:extLst>
              <a:ext uri="{FF2B5EF4-FFF2-40B4-BE49-F238E27FC236}">
                <a16:creationId xmlns:a16="http://schemas.microsoft.com/office/drawing/2014/main" id="{4B5325AF-17CC-2303-4915-D82173D68456}"/>
              </a:ext>
            </a:extLst>
          </p:cNvPr>
          <p:cNvSpPr/>
          <p:nvPr/>
        </p:nvSpPr>
        <p:spPr>
          <a:xfrm>
            <a:off x="7164590" y="4570903"/>
            <a:ext cx="939282" cy="536076"/>
          </a:xfrm>
          <a:prstGeom prst="ellipse">
            <a:avLst/>
          </a:prstGeom>
          <a:pattFill prst="smGrid">
            <a:fgClr>
              <a:srgbClr val="FFFF0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Isosceles Triangle 37">
            <a:extLst>
              <a:ext uri="{FF2B5EF4-FFF2-40B4-BE49-F238E27FC236}">
                <a16:creationId xmlns:a16="http://schemas.microsoft.com/office/drawing/2014/main" id="{09F62045-FCC3-4753-CDA7-D4DE8AB2AA71}"/>
              </a:ext>
            </a:extLst>
          </p:cNvPr>
          <p:cNvSpPr/>
          <p:nvPr/>
        </p:nvSpPr>
        <p:spPr>
          <a:xfrm>
            <a:off x="2740011" y="3599993"/>
            <a:ext cx="1829719" cy="797463"/>
          </a:xfrm>
          <a:prstGeom prst="triangle">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200" dirty="0">
                <a:solidFill>
                  <a:srgbClr val="000000"/>
                </a:solidFill>
                <a:ea typeface="DengXian" panose="02010600030101010101" pitchFamily="2" charset="-122"/>
                <a:cs typeface="Times New Roman" panose="02020603050405020304" pitchFamily="18" charset="0"/>
              </a:rPr>
              <a:t>Onshore Fund (DE)</a:t>
            </a:r>
          </a:p>
          <a:p>
            <a:pPr marL="0" marR="0" algn="ctr">
              <a:lnSpc>
                <a:spcPct val="115000"/>
              </a:lnSpc>
              <a:spcAft>
                <a:spcPts val="800"/>
              </a:spcAft>
            </a:pPr>
            <a:endParaRPr lang="en-US" sz="1200" kern="100" dirty="0">
              <a:effectLst/>
              <a:ea typeface="DengXian" panose="02010600030101010101" pitchFamily="2" charset="-122"/>
              <a:cs typeface="Times New Roman" panose="02020603050405020304" pitchFamily="18" charset="0"/>
            </a:endParaRPr>
          </a:p>
        </p:txBody>
      </p:sp>
      <p:cxnSp>
        <p:nvCxnSpPr>
          <p:cNvPr id="39" name="Straight Connector 38">
            <a:extLst>
              <a:ext uri="{FF2B5EF4-FFF2-40B4-BE49-F238E27FC236}">
                <a16:creationId xmlns:a16="http://schemas.microsoft.com/office/drawing/2014/main" id="{A44F602F-C1A6-1695-BAC7-F47C003B37CF}"/>
              </a:ext>
            </a:extLst>
          </p:cNvPr>
          <p:cNvCxnSpPr>
            <a:cxnSpLocks/>
          </p:cNvCxnSpPr>
          <p:nvPr/>
        </p:nvCxnSpPr>
        <p:spPr>
          <a:xfrm>
            <a:off x="6406217" y="2293195"/>
            <a:ext cx="1101697" cy="9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B4169F8-AA99-7DFA-0A9E-A671427E9520}"/>
              </a:ext>
            </a:extLst>
          </p:cNvPr>
          <p:cNvCxnSpPr>
            <a:cxnSpLocks/>
            <a:stCxn id="43" idx="4"/>
          </p:cNvCxnSpPr>
          <p:nvPr/>
        </p:nvCxnSpPr>
        <p:spPr>
          <a:xfrm flipH="1">
            <a:off x="6406217" y="2066942"/>
            <a:ext cx="1" cy="2272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3E5A08F-5048-8BA6-458E-022C63019759}"/>
              </a:ext>
            </a:extLst>
          </p:cNvPr>
          <p:cNvCxnSpPr>
            <a:cxnSpLocks/>
            <a:stCxn id="44" idx="4"/>
          </p:cNvCxnSpPr>
          <p:nvPr/>
        </p:nvCxnSpPr>
        <p:spPr>
          <a:xfrm>
            <a:off x="7511988" y="2066942"/>
            <a:ext cx="0" cy="2364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CBFE9544-ACCF-788A-1F53-5B7B6BE8152C}"/>
              </a:ext>
            </a:extLst>
          </p:cNvPr>
          <p:cNvSpPr/>
          <p:nvPr/>
        </p:nvSpPr>
        <p:spPr>
          <a:xfrm>
            <a:off x="3094921" y="1683423"/>
            <a:ext cx="1111156" cy="572214"/>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U.S. taxable LPs</a:t>
            </a:r>
            <a:endParaRPr lang="en-US" sz="1200" kern="100">
              <a:effectLst/>
              <a:ea typeface="DengXian" panose="02010600030101010101" pitchFamily="2" charset="-122"/>
              <a:cs typeface="Times New Roman" panose="02020603050405020304" pitchFamily="18" charset="0"/>
            </a:endParaRPr>
          </a:p>
        </p:txBody>
      </p:sp>
      <p:sp>
        <p:nvSpPr>
          <p:cNvPr id="43" name="Oval 42">
            <a:extLst>
              <a:ext uri="{FF2B5EF4-FFF2-40B4-BE49-F238E27FC236}">
                <a16:creationId xmlns:a16="http://schemas.microsoft.com/office/drawing/2014/main" id="{979F2E88-59D1-8771-9489-80728A64B01A}"/>
              </a:ext>
            </a:extLst>
          </p:cNvPr>
          <p:cNvSpPr/>
          <p:nvPr/>
        </p:nvSpPr>
        <p:spPr>
          <a:xfrm>
            <a:off x="5921633" y="1494733"/>
            <a:ext cx="969170" cy="572209"/>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ECI-sensitive LPs</a:t>
            </a:r>
            <a:endParaRPr lang="en-US" sz="1200" kern="100">
              <a:effectLst/>
              <a:ea typeface="DengXian" panose="02010600030101010101" pitchFamily="2" charset="-122"/>
              <a:cs typeface="Times New Roman" panose="02020603050405020304" pitchFamily="18" charset="0"/>
            </a:endParaRPr>
          </a:p>
        </p:txBody>
      </p:sp>
      <p:sp>
        <p:nvSpPr>
          <p:cNvPr id="44" name="Oval 43">
            <a:extLst>
              <a:ext uri="{FF2B5EF4-FFF2-40B4-BE49-F238E27FC236}">
                <a16:creationId xmlns:a16="http://schemas.microsoft.com/office/drawing/2014/main" id="{54A02681-18A5-3C33-37DA-998134D700F0}"/>
              </a:ext>
            </a:extLst>
          </p:cNvPr>
          <p:cNvSpPr/>
          <p:nvPr/>
        </p:nvSpPr>
        <p:spPr>
          <a:xfrm>
            <a:off x="7037415" y="1494733"/>
            <a:ext cx="949145" cy="572209"/>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UBTI-sensitive LPs</a:t>
            </a:r>
            <a:endParaRPr lang="en-US" sz="1200" kern="100">
              <a:effectLst/>
              <a:ea typeface="DengXian" panose="02010600030101010101" pitchFamily="2" charset="-122"/>
              <a:cs typeface="Times New Roman" panose="02020603050405020304" pitchFamily="18" charset="0"/>
            </a:endParaRPr>
          </a:p>
        </p:txBody>
      </p:sp>
      <p:cxnSp>
        <p:nvCxnSpPr>
          <p:cNvPr id="45" name="Straight Connector 44">
            <a:extLst>
              <a:ext uri="{FF2B5EF4-FFF2-40B4-BE49-F238E27FC236}">
                <a16:creationId xmlns:a16="http://schemas.microsoft.com/office/drawing/2014/main" id="{4D373C6A-DECF-A90F-BC1D-B6E72776D34C}"/>
              </a:ext>
            </a:extLst>
          </p:cNvPr>
          <p:cNvCxnSpPr>
            <a:cxnSpLocks/>
          </p:cNvCxnSpPr>
          <p:nvPr/>
        </p:nvCxnSpPr>
        <p:spPr>
          <a:xfrm>
            <a:off x="3714732" y="4395000"/>
            <a:ext cx="0" cy="7188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6984D16-F309-A27B-548B-9E68183EF003}"/>
              </a:ext>
            </a:extLst>
          </p:cNvPr>
          <p:cNvCxnSpPr>
            <a:cxnSpLocks/>
            <a:stCxn id="38" idx="0"/>
            <a:endCxn id="42" idx="4"/>
          </p:cNvCxnSpPr>
          <p:nvPr/>
        </p:nvCxnSpPr>
        <p:spPr>
          <a:xfrm flipH="1" flipV="1">
            <a:off x="3650499" y="2255637"/>
            <a:ext cx="4372" cy="13443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3A99F593-C944-A189-5E49-5AECC79D98CB}"/>
              </a:ext>
            </a:extLst>
          </p:cNvPr>
          <p:cNvSpPr/>
          <p:nvPr/>
        </p:nvSpPr>
        <p:spPr>
          <a:xfrm>
            <a:off x="5911607" y="5139765"/>
            <a:ext cx="1090482" cy="447004"/>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700" dirty="0">
                <a:solidFill>
                  <a:srgbClr val="000000"/>
                </a:solidFill>
                <a:ea typeface="DengXian" panose="02010600030101010101" pitchFamily="2" charset="-122"/>
                <a:cs typeface="Times New Roman" panose="02020603050405020304" pitchFamily="18" charset="0"/>
              </a:rPr>
              <a:t>Loans with borrowers</a:t>
            </a:r>
            <a:endParaRPr lang="en-US" sz="1200" kern="100" dirty="0">
              <a:effectLst/>
              <a:ea typeface="DengXian" panose="02010600030101010101" pitchFamily="2" charset="-122"/>
              <a:cs typeface="Times New Roman" panose="02020603050405020304" pitchFamily="18" charset="0"/>
            </a:endParaRPr>
          </a:p>
        </p:txBody>
      </p:sp>
      <p:sp>
        <p:nvSpPr>
          <p:cNvPr id="48" name="Rectangle 47">
            <a:extLst>
              <a:ext uri="{FF2B5EF4-FFF2-40B4-BE49-F238E27FC236}">
                <a16:creationId xmlns:a16="http://schemas.microsoft.com/office/drawing/2014/main" id="{DCEA80B6-8FBC-35FA-C892-6E445621CD64}"/>
              </a:ext>
            </a:extLst>
          </p:cNvPr>
          <p:cNvSpPr/>
          <p:nvPr/>
        </p:nvSpPr>
        <p:spPr>
          <a:xfrm>
            <a:off x="6367618" y="2618541"/>
            <a:ext cx="949141" cy="572213"/>
          </a:xfrm>
          <a:prstGeom prst="rect">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dirty="0">
                <a:solidFill>
                  <a:srgbClr val="000000"/>
                </a:solidFill>
                <a:effectLst/>
                <a:ea typeface="DengXian" panose="02010600030101010101" pitchFamily="2" charset="-122"/>
                <a:cs typeface="Times New Roman" panose="02020603050405020304" pitchFamily="18" charset="0"/>
              </a:rPr>
              <a:t>Offshore Feeder (Cayman)</a:t>
            </a:r>
            <a:endParaRPr lang="en-US" sz="1000" kern="100" dirty="0">
              <a:effectLst/>
              <a:ea typeface="DengXian" panose="02010600030101010101" pitchFamily="2" charset="-122"/>
              <a:cs typeface="Times New Roman" panose="02020603050405020304" pitchFamily="18" charset="0"/>
            </a:endParaRPr>
          </a:p>
        </p:txBody>
      </p:sp>
      <p:cxnSp>
        <p:nvCxnSpPr>
          <p:cNvPr id="49" name="Straight Connector 48">
            <a:extLst>
              <a:ext uri="{FF2B5EF4-FFF2-40B4-BE49-F238E27FC236}">
                <a16:creationId xmlns:a16="http://schemas.microsoft.com/office/drawing/2014/main" id="{7A1ABF89-63C6-029A-340D-6D063A9F1DE3}"/>
              </a:ext>
            </a:extLst>
          </p:cNvPr>
          <p:cNvCxnSpPr>
            <a:cxnSpLocks/>
          </p:cNvCxnSpPr>
          <p:nvPr/>
        </p:nvCxnSpPr>
        <p:spPr>
          <a:xfrm>
            <a:off x="6884393" y="2304328"/>
            <a:ext cx="6409" cy="3044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78A8580-7539-C4FF-D652-2E9A13BD1770}"/>
              </a:ext>
            </a:extLst>
          </p:cNvPr>
          <p:cNvCxnSpPr>
            <a:cxnSpLocks/>
            <a:endCxn id="47" idx="0"/>
          </p:cNvCxnSpPr>
          <p:nvPr/>
        </p:nvCxnSpPr>
        <p:spPr>
          <a:xfrm>
            <a:off x="6456849" y="4413666"/>
            <a:ext cx="0" cy="72609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F558C4F1-8F5A-9665-AF5F-F98C5CA6FE7A}"/>
              </a:ext>
            </a:extLst>
          </p:cNvPr>
          <p:cNvSpPr/>
          <p:nvPr/>
        </p:nvSpPr>
        <p:spPr>
          <a:xfrm>
            <a:off x="3130957" y="5127671"/>
            <a:ext cx="1249472" cy="447004"/>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700" kern="1200" dirty="0">
                <a:solidFill>
                  <a:srgbClr val="000000"/>
                </a:solidFill>
                <a:effectLst/>
                <a:ea typeface="DengXian" panose="02010600030101010101" pitchFamily="2" charset="-122"/>
                <a:cs typeface="Times New Roman" panose="02020603050405020304" pitchFamily="18" charset="0"/>
              </a:rPr>
              <a:t>Loans with borrowers</a:t>
            </a:r>
            <a:endParaRPr lang="en-US" sz="1200" kern="100" dirty="0">
              <a:effectLst/>
              <a:ea typeface="DengXian" panose="02010600030101010101" pitchFamily="2" charset="-122"/>
              <a:cs typeface="Times New Roman" panose="02020603050405020304" pitchFamily="18" charset="0"/>
            </a:endParaRPr>
          </a:p>
        </p:txBody>
      </p:sp>
      <p:sp>
        <p:nvSpPr>
          <p:cNvPr id="56" name="Isosceles Triangle 55">
            <a:extLst>
              <a:ext uri="{FF2B5EF4-FFF2-40B4-BE49-F238E27FC236}">
                <a16:creationId xmlns:a16="http://schemas.microsoft.com/office/drawing/2014/main" id="{A6BE892F-A291-AB6D-6044-58ACD9006239}"/>
              </a:ext>
            </a:extLst>
          </p:cNvPr>
          <p:cNvSpPr/>
          <p:nvPr/>
        </p:nvSpPr>
        <p:spPr>
          <a:xfrm>
            <a:off x="5440212" y="3536557"/>
            <a:ext cx="2033272" cy="883991"/>
          </a:xfrm>
          <a:prstGeom prst="triangle">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dirty="0">
                <a:solidFill>
                  <a:srgbClr val="000000"/>
                </a:solidFill>
                <a:effectLst/>
                <a:ea typeface="DengXian" panose="02010600030101010101" pitchFamily="2" charset="-122"/>
                <a:cs typeface="Times New Roman" panose="02020603050405020304" pitchFamily="18" charset="0"/>
              </a:rPr>
              <a:t>Offshore </a:t>
            </a:r>
            <a:r>
              <a:rPr lang="en-US" sz="1000" kern="100" dirty="0">
                <a:solidFill>
                  <a:srgbClr val="000000"/>
                </a:solidFill>
                <a:ea typeface="DengXian" panose="02010600030101010101" pitchFamily="2" charset="-122"/>
                <a:cs typeface="Times New Roman" panose="02020603050405020304" pitchFamily="18" charset="0"/>
              </a:rPr>
              <a:t>Fund </a:t>
            </a:r>
            <a:br>
              <a:rPr lang="en-US" sz="1000" kern="100" dirty="0">
                <a:solidFill>
                  <a:srgbClr val="000000"/>
                </a:solidFill>
                <a:ea typeface="DengXian" panose="02010600030101010101" pitchFamily="2" charset="-122"/>
                <a:cs typeface="Times New Roman" panose="02020603050405020304" pitchFamily="18" charset="0"/>
              </a:rPr>
            </a:br>
            <a:r>
              <a:rPr lang="en-US" sz="1000" kern="100" dirty="0">
                <a:solidFill>
                  <a:srgbClr val="000000"/>
                </a:solidFill>
                <a:ea typeface="DengXian" panose="02010600030101010101" pitchFamily="2" charset="-122"/>
                <a:cs typeface="Times New Roman" panose="02020603050405020304" pitchFamily="18" charset="0"/>
              </a:rPr>
              <a:t>(Cayman or DE)</a:t>
            </a:r>
          </a:p>
          <a:p>
            <a:pPr marL="0" marR="0" algn="ctr">
              <a:lnSpc>
                <a:spcPct val="115000"/>
              </a:lnSpc>
              <a:spcAft>
                <a:spcPts val="800"/>
              </a:spcAft>
            </a:pPr>
            <a:endParaRPr lang="en-US" sz="1200" kern="1200" dirty="0">
              <a:solidFill>
                <a:srgbClr val="000000"/>
              </a:solidFill>
              <a:effectLst/>
              <a:ea typeface="DengXian" panose="02010600030101010101" pitchFamily="2" charset="-122"/>
              <a:cs typeface="Times New Roman" panose="02020603050405020304" pitchFamily="18" charset="0"/>
            </a:endParaRPr>
          </a:p>
        </p:txBody>
      </p:sp>
      <p:cxnSp>
        <p:nvCxnSpPr>
          <p:cNvPr id="58" name="Straight Connector 57">
            <a:extLst>
              <a:ext uri="{FF2B5EF4-FFF2-40B4-BE49-F238E27FC236}">
                <a16:creationId xmlns:a16="http://schemas.microsoft.com/office/drawing/2014/main" id="{D449CCBA-BDDE-CF10-A3A3-7103C5F163AC}"/>
              </a:ext>
            </a:extLst>
          </p:cNvPr>
          <p:cNvCxnSpPr>
            <a:cxnSpLocks/>
            <a:endCxn id="56" idx="0"/>
          </p:cNvCxnSpPr>
          <p:nvPr/>
        </p:nvCxnSpPr>
        <p:spPr>
          <a:xfrm flipH="1">
            <a:off x="6456848" y="3201262"/>
            <a:ext cx="377837" cy="33529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Isosceles Triangle 84">
            <a:extLst>
              <a:ext uri="{FF2B5EF4-FFF2-40B4-BE49-F238E27FC236}">
                <a16:creationId xmlns:a16="http://schemas.microsoft.com/office/drawing/2014/main" id="{FA3AAF6F-F8AF-BB02-DA28-C51C2AF52150}"/>
              </a:ext>
            </a:extLst>
          </p:cNvPr>
          <p:cNvSpPr/>
          <p:nvPr/>
        </p:nvSpPr>
        <p:spPr>
          <a:xfrm>
            <a:off x="4692785" y="1683423"/>
            <a:ext cx="754269" cy="534744"/>
          </a:xfrm>
          <a:prstGeom prst="triangl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a:lnSpc>
                <a:spcPct val="115000"/>
              </a:lnSpc>
              <a:spcAft>
                <a:spcPts val="800"/>
              </a:spcAft>
            </a:pPr>
            <a:r>
              <a:rPr lang="en-US" sz="900" kern="1200" dirty="0">
                <a:solidFill>
                  <a:srgbClr val="000000"/>
                </a:solidFill>
                <a:effectLst/>
                <a:ea typeface="DengXian" panose="02010600030101010101" pitchFamily="2" charset="-122"/>
                <a:cs typeface="Times New Roman" panose="02020603050405020304" pitchFamily="18" charset="0"/>
              </a:rPr>
              <a:t>GP</a:t>
            </a:r>
            <a:br>
              <a:rPr lang="en-US" sz="900" kern="100" dirty="0">
                <a:solidFill>
                  <a:srgbClr val="000000"/>
                </a:solidFill>
                <a:ea typeface="DengXian" panose="02010600030101010101" pitchFamily="2" charset="-122"/>
                <a:cs typeface="Times New Roman" panose="02020603050405020304" pitchFamily="18" charset="0"/>
              </a:rPr>
            </a:br>
            <a:endParaRPr lang="en-US" sz="900" kern="1200" dirty="0">
              <a:solidFill>
                <a:srgbClr val="000000"/>
              </a:solidFill>
              <a:effectLst/>
              <a:ea typeface="DengXian" panose="02010600030101010101" pitchFamily="2" charset="-122"/>
              <a:cs typeface="Times New Roman" panose="02020603050405020304" pitchFamily="18" charset="0"/>
            </a:endParaRPr>
          </a:p>
        </p:txBody>
      </p:sp>
      <p:cxnSp>
        <p:nvCxnSpPr>
          <p:cNvPr id="88" name="Straight Connector 87">
            <a:extLst>
              <a:ext uri="{FF2B5EF4-FFF2-40B4-BE49-F238E27FC236}">
                <a16:creationId xmlns:a16="http://schemas.microsoft.com/office/drawing/2014/main" id="{4731EA0B-60D8-560F-57A7-2E971083067A}"/>
              </a:ext>
            </a:extLst>
          </p:cNvPr>
          <p:cNvCxnSpPr>
            <a:cxnSpLocks/>
          </p:cNvCxnSpPr>
          <p:nvPr/>
        </p:nvCxnSpPr>
        <p:spPr>
          <a:xfrm flipH="1">
            <a:off x="6463690" y="3056694"/>
            <a:ext cx="2026430" cy="506082"/>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4665B819-D07B-BFE7-411F-AD0228F556E1}"/>
              </a:ext>
            </a:extLst>
          </p:cNvPr>
          <p:cNvSpPr txBox="1"/>
          <p:nvPr/>
        </p:nvSpPr>
        <p:spPr>
          <a:xfrm>
            <a:off x="4616135" y="4695147"/>
            <a:ext cx="889987" cy="215444"/>
          </a:xfrm>
          <a:prstGeom prst="rect">
            <a:avLst/>
          </a:prstGeom>
          <a:noFill/>
        </p:spPr>
        <p:txBody>
          <a:bodyPr wrap="none" rtlCol="0">
            <a:spAutoFit/>
          </a:bodyPr>
          <a:lstStyle/>
          <a:p>
            <a:r>
              <a:rPr lang="en-US" sz="800" dirty="0">
                <a:solidFill>
                  <a:schemeClr val="accent2"/>
                </a:solidFill>
              </a:rPr>
              <a:t>Seasoned loans</a:t>
            </a:r>
          </a:p>
        </p:txBody>
      </p:sp>
      <p:cxnSp>
        <p:nvCxnSpPr>
          <p:cNvPr id="4" name="Straight Connector 3">
            <a:extLst>
              <a:ext uri="{FF2B5EF4-FFF2-40B4-BE49-F238E27FC236}">
                <a16:creationId xmlns:a16="http://schemas.microsoft.com/office/drawing/2014/main" id="{3CB94868-E058-64B8-2C5F-9BD559823B38}"/>
              </a:ext>
            </a:extLst>
          </p:cNvPr>
          <p:cNvCxnSpPr>
            <a:cxnSpLocks/>
            <a:stCxn id="38" idx="0"/>
            <a:endCxn id="85" idx="3"/>
          </p:cNvCxnSpPr>
          <p:nvPr/>
        </p:nvCxnSpPr>
        <p:spPr>
          <a:xfrm flipV="1">
            <a:off x="3654871" y="2218167"/>
            <a:ext cx="1415049" cy="13818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A1F3C87-D872-5592-FD1A-F9E008F95DBB}"/>
              </a:ext>
            </a:extLst>
          </p:cNvPr>
          <p:cNvCxnSpPr>
            <a:cxnSpLocks/>
            <a:stCxn id="56" idx="0"/>
            <a:endCxn id="85" idx="3"/>
          </p:cNvCxnSpPr>
          <p:nvPr/>
        </p:nvCxnSpPr>
        <p:spPr>
          <a:xfrm flipH="1" flipV="1">
            <a:off x="5069920" y="2218167"/>
            <a:ext cx="1386928" cy="13183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F2A880C-8DBD-8EEC-CFE2-969E31CCD0C9}"/>
              </a:ext>
            </a:extLst>
          </p:cNvPr>
          <p:cNvCxnSpPr>
            <a:cxnSpLocks/>
          </p:cNvCxnSpPr>
          <p:nvPr/>
        </p:nvCxnSpPr>
        <p:spPr>
          <a:xfrm>
            <a:off x="4527881" y="4665569"/>
            <a:ext cx="1068934" cy="0"/>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ACC68C1C-CA87-783A-C8B7-C4263D1693D5}"/>
              </a:ext>
            </a:extLst>
          </p:cNvPr>
          <p:cNvSpPr/>
          <p:nvPr/>
        </p:nvSpPr>
        <p:spPr>
          <a:xfrm>
            <a:off x="8129731" y="2643396"/>
            <a:ext cx="1062117" cy="419368"/>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700" dirty="0">
                <a:solidFill>
                  <a:srgbClr val="000000"/>
                </a:solidFill>
                <a:ea typeface="DengXian" panose="02010600030101010101" pitchFamily="2" charset="-122"/>
                <a:cs typeface="Times New Roman" panose="02020603050405020304" pitchFamily="18" charset="0"/>
              </a:rPr>
              <a:t>Independent Directors</a:t>
            </a:r>
            <a:endParaRPr lang="en-US" sz="700" kern="100" dirty="0">
              <a:effectLst/>
              <a:ea typeface="DengXian" panose="02010600030101010101" pitchFamily="2" charset="-122"/>
              <a:cs typeface="Times New Roman" panose="02020603050405020304" pitchFamily="18" charset="0"/>
            </a:endParaRPr>
          </a:p>
        </p:txBody>
      </p:sp>
      <p:sp>
        <p:nvSpPr>
          <p:cNvPr id="69" name="Isosceles Triangle 68">
            <a:extLst>
              <a:ext uri="{FF2B5EF4-FFF2-40B4-BE49-F238E27FC236}">
                <a16:creationId xmlns:a16="http://schemas.microsoft.com/office/drawing/2014/main" id="{5B5AA3A5-E59B-00D1-14D3-C598E23A1CB6}"/>
              </a:ext>
            </a:extLst>
          </p:cNvPr>
          <p:cNvSpPr/>
          <p:nvPr/>
        </p:nvSpPr>
        <p:spPr>
          <a:xfrm>
            <a:off x="1694581" y="1741111"/>
            <a:ext cx="1072994" cy="419368"/>
          </a:xfrm>
          <a:prstGeom prst="triangl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a:lnSpc>
                <a:spcPct val="115000"/>
              </a:lnSpc>
              <a:spcAft>
                <a:spcPts val="800"/>
              </a:spcAft>
            </a:pPr>
            <a:r>
              <a:rPr lang="en-US" sz="700" kern="1200" dirty="0">
                <a:solidFill>
                  <a:srgbClr val="000000"/>
                </a:solidFill>
                <a:effectLst/>
                <a:ea typeface="DengXian" panose="02010600030101010101" pitchFamily="2" charset="-122"/>
                <a:cs typeface="Times New Roman" panose="02020603050405020304" pitchFamily="18" charset="0"/>
              </a:rPr>
              <a:t>Manager</a:t>
            </a:r>
            <a:br>
              <a:rPr lang="en-US" sz="700" kern="100" dirty="0">
                <a:solidFill>
                  <a:srgbClr val="000000"/>
                </a:solidFill>
                <a:ea typeface="DengXian" panose="02010600030101010101" pitchFamily="2" charset="-122"/>
                <a:cs typeface="Times New Roman" panose="02020603050405020304" pitchFamily="18" charset="0"/>
              </a:rPr>
            </a:br>
            <a:endParaRPr lang="en-US" sz="700" kern="1200" dirty="0">
              <a:solidFill>
                <a:srgbClr val="000000"/>
              </a:solidFill>
              <a:effectLst/>
              <a:ea typeface="DengXian" panose="02010600030101010101" pitchFamily="2" charset="-122"/>
              <a:cs typeface="Times New Roman" panose="02020603050405020304" pitchFamily="18" charset="0"/>
            </a:endParaRPr>
          </a:p>
        </p:txBody>
      </p:sp>
      <p:cxnSp>
        <p:nvCxnSpPr>
          <p:cNvPr id="73" name="Straight Arrow Connector 72">
            <a:extLst>
              <a:ext uri="{FF2B5EF4-FFF2-40B4-BE49-F238E27FC236}">
                <a16:creationId xmlns:a16="http://schemas.microsoft.com/office/drawing/2014/main" id="{4FD28A90-656D-633C-3578-29DFA5DCF8D0}"/>
              </a:ext>
            </a:extLst>
          </p:cNvPr>
          <p:cNvCxnSpPr>
            <a:cxnSpLocks/>
          </p:cNvCxnSpPr>
          <p:nvPr/>
        </p:nvCxnSpPr>
        <p:spPr>
          <a:xfrm flipV="1">
            <a:off x="7473484" y="4543233"/>
            <a:ext cx="0" cy="652083"/>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3A37E338-05C6-3E80-CFBD-A5DCD04BED87}"/>
              </a:ext>
            </a:extLst>
          </p:cNvPr>
          <p:cNvSpPr txBox="1"/>
          <p:nvPr/>
        </p:nvSpPr>
        <p:spPr>
          <a:xfrm>
            <a:off x="7442975" y="4683438"/>
            <a:ext cx="1230850" cy="276999"/>
          </a:xfrm>
          <a:prstGeom prst="rect">
            <a:avLst/>
          </a:prstGeom>
          <a:noFill/>
        </p:spPr>
        <p:txBody>
          <a:bodyPr wrap="none" rtlCol="0">
            <a:spAutoFit/>
          </a:bodyPr>
          <a:lstStyle/>
          <a:p>
            <a:r>
              <a:rPr lang="en-US" sz="1200" dirty="0">
                <a:solidFill>
                  <a:srgbClr val="00B050"/>
                </a:solidFill>
              </a:rPr>
              <a:t>Interest Income</a:t>
            </a:r>
          </a:p>
        </p:txBody>
      </p:sp>
      <p:sp>
        <p:nvSpPr>
          <p:cNvPr id="8" name="TextBox 68">
            <a:extLst>
              <a:ext uri="{FF2B5EF4-FFF2-40B4-BE49-F238E27FC236}">
                <a16:creationId xmlns:a16="http://schemas.microsoft.com/office/drawing/2014/main" id="{1DDB4C1F-4038-42B9-5080-CE4AADF7F158}"/>
              </a:ext>
            </a:extLst>
          </p:cNvPr>
          <p:cNvSpPr txBox="1"/>
          <p:nvPr/>
        </p:nvSpPr>
        <p:spPr>
          <a:xfrm>
            <a:off x="6011423" y="4669198"/>
            <a:ext cx="650814" cy="372708"/>
          </a:xfrm>
          <a:prstGeom prst="rect">
            <a:avLst/>
          </a:prstGeom>
          <a:noFill/>
        </p:spPr>
        <p:txBody>
          <a:bodyPr wrap="square" rtlCol="0">
            <a:spAutoFit/>
          </a:bodyPr>
          <a:lstStyle/>
          <a:p>
            <a:pPr marL="0" marR="0">
              <a:lnSpc>
                <a:spcPct val="115000"/>
              </a:lnSpc>
              <a:spcAft>
                <a:spcPts val="800"/>
              </a:spcAft>
            </a:pPr>
            <a:r>
              <a:rPr lang="en-US" sz="10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t>Debt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
        <p:nvSpPr>
          <p:cNvPr id="13" name="Oval 12">
            <a:extLst>
              <a:ext uri="{FF2B5EF4-FFF2-40B4-BE49-F238E27FC236}">
                <a16:creationId xmlns:a16="http://schemas.microsoft.com/office/drawing/2014/main" id="{F455931C-F7B0-B347-1083-2EE966D5B183}"/>
              </a:ext>
            </a:extLst>
          </p:cNvPr>
          <p:cNvSpPr/>
          <p:nvPr/>
        </p:nvSpPr>
        <p:spPr>
          <a:xfrm>
            <a:off x="7243045" y="3303289"/>
            <a:ext cx="939282" cy="536076"/>
          </a:xfrm>
          <a:prstGeom prst="ellipse">
            <a:avLst/>
          </a:prstGeom>
          <a:pattFill prst="smGrid">
            <a:fgClr>
              <a:srgbClr val="FFFF0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57B91D30-676C-C378-A3AC-97036799F97D}"/>
              </a:ext>
            </a:extLst>
          </p:cNvPr>
          <p:cNvCxnSpPr>
            <a:cxnSpLocks/>
          </p:cNvCxnSpPr>
          <p:nvPr/>
        </p:nvCxnSpPr>
        <p:spPr>
          <a:xfrm flipV="1">
            <a:off x="7490549" y="3187339"/>
            <a:ext cx="0" cy="652083"/>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86E5DB37-E10B-578E-325A-B535629F2AD2}"/>
              </a:ext>
            </a:extLst>
          </p:cNvPr>
          <p:cNvSpPr txBox="1"/>
          <p:nvPr/>
        </p:nvSpPr>
        <p:spPr>
          <a:xfrm>
            <a:off x="7460040" y="3327544"/>
            <a:ext cx="1230850" cy="276999"/>
          </a:xfrm>
          <a:prstGeom prst="rect">
            <a:avLst/>
          </a:prstGeom>
          <a:noFill/>
        </p:spPr>
        <p:txBody>
          <a:bodyPr wrap="none" rtlCol="0">
            <a:spAutoFit/>
          </a:bodyPr>
          <a:lstStyle/>
          <a:p>
            <a:r>
              <a:rPr lang="en-US" sz="1200" dirty="0">
                <a:solidFill>
                  <a:srgbClr val="00B050"/>
                </a:solidFill>
              </a:rPr>
              <a:t>Interest Income</a:t>
            </a:r>
          </a:p>
        </p:txBody>
      </p:sp>
      <p:cxnSp>
        <p:nvCxnSpPr>
          <p:cNvPr id="2" name="Straight Connector 1">
            <a:extLst>
              <a:ext uri="{FF2B5EF4-FFF2-40B4-BE49-F238E27FC236}">
                <a16:creationId xmlns:a16="http://schemas.microsoft.com/office/drawing/2014/main" id="{24109497-96B8-F919-8DEF-297D87E1DF27}"/>
              </a:ext>
            </a:extLst>
          </p:cNvPr>
          <p:cNvCxnSpPr>
            <a:cxnSpLocks/>
          </p:cNvCxnSpPr>
          <p:nvPr/>
        </p:nvCxnSpPr>
        <p:spPr>
          <a:xfrm flipV="1">
            <a:off x="2223724" y="1283325"/>
            <a:ext cx="1348135" cy="46353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92936B6-EB29-4AF5-4DDD-E4A64AC10164}"/>
              </a:ext>
            </a:extLst>
          </p:cNvPr>
          <p:cNvCxnSpPr>
            <a:cxnSpLocks/>
            <a:stCxn id="85" idx="0"/>
          </p:cNvCxnSpPr>
          <p:nvPr/>
        </p:nvCxnSpPr>
        <p:spPr>
          <a:xfrm flipH="1" flipV="1">
            <a:off x="3571859" y="1283325"/>
            <a:ext cx="1498061" cy="4000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AA8A409B-3E7F-271E-8A00-5F50D3B62B2E}"/>
              </a:ext>
            </a:extLst>
          </p:cNvPr>
          <p:cNvSpPr/>
          <p:nvPr/>
        </p:nvSpPr>
        <p:spPr>
          <a:xfrm>
            <a:off x="3016281" y="803563"/>
            <a:ext cx="1084721" cy="475053"/>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dirty="0">
                <a:solidFill>
                  <a:srgbClr val="000000"/>
                </a:solidFill>
                <a:effectLst/>
                <a:ea typeface="DengXian" panose="02010600030101010101" pitchFamily="2" charset="-122"/>
                <a:cs typeface="Times New Roman" panose="02020603050405020304" pitchFamily="18" charset="0"/>
              </a:rPr>
              <a:t>Fund principals</a:t>
            </a:r>
            <a:endParaRPr lang="en-US" sz="1200" kern="100" dirty="0">
              <a:effectLs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53388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3D058-0E79-E568-0DBD-1DBB30477C2B}"/>
            </a:ext>
          </a:extLst>
        </p:cNvPr>
        <p:cNvGrpSpPr/>
        <p:nvPr/>
      </p:nvGrpSpPr>
      <p:grpSpPr>
        <a:xfrm>
          <a:off x="0" y="0"/>
          <a:ext cx="0" cy="0"/>
          <a:chOff x="0" y="0"/>
          <a:chExt cx="0" cy="0"/>
        </a:xfrm>
      </p:grpSpPr>
      <p:sp>
        <p:nvSpPr>
          <p:cNvPr id="67" name="Oval 66">
            <a:extLst>
              <a:ext uri="{FF2B5EF4-FFF2-40B4-BE49-F238E27FC236}">
                <a16:creationId xmlns:a16="http://schemas.microsoft.com/office/drawing/2014/main" id="{516D0D99-DCA7-D059-B352-C144745452FB}"/>
              </a:ext>
            </a:extLst>
          </p:cNvPr>
          <p:cNvSpPr/>
          <p:nvPr/>
        </p:nvSpPr>
        <p:spPr>
          <a:xfrm>
            <a:off x="6683298" y="3121977"/>
            <a:ext cx="939282" cy="536076"/>
          </a:xfrm>
          <a:prstGeom prst="ellipse">
            <a:avLst/>
          </a:prstGeom>
          <a:pattFill prst="smGrid">
            <a:fgClr>
              <a:srgbClr val="FFFF0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5" name="Group 34">
            <a:extLst>
              <a:ext uri="{FF2B5EF4-FFF2-40B4-BE49-F238E27FC236}">
                <a16:creationId xmlns:a16="http://schemas.microsoft.com/office/drawing/2014/main" id="{3922D4E0-2403-D3FE-96A9-004604B20BC5}"/>
              </a:ext>
            </a:extLst>
          </p:cNvPr>
          <p:cNvGrpSpPr/>
          <p:nvPr/>
        </p:nvGrpSpPr>
        <p:grpSpPr>
          <a:xfrm>
            <a:off x="3422036" y="1262288"/>
            <a:ext cx="4326751" cy="5033514"/>
            <a:chOff x="146798" y="0"/>
            <a:chExt cx="4327159" cy="5034015"/>
          </a:xfrm>
        </p:grpSpPr>
        <p:cxnSp>
          <p:nvCxnSpPr>
            <p:cNvPr id="36" name="Straight Connector 35">
              <a:extLst>
                <a:ext uri="{FF2B5EF4-FFF2-40B4-BE49-F238E27FC236}">
                  <a16:creationId xmlns:a16="http://schemas.microsoft.com/office/drawing/2014/main" id="{B3168D4B-956A-91B8-3FA0-45DC7E9D48E1}"/>
                </a:ext>
              </a:extLst>
            </p:cNvPr>
            <p:cNvCxnSpPr>
              <a:cxnSpLocks/>
              <a:stCxn id="50" idx="3"/>
              <a:endCxn id="52" idx="0"/>
            </p:cNvCxnSpPr>
            <p:nvPr/>
          </p:nvCxnSpPr>
          <p:spPr>
            <a:xfrm flipH="1">
              <a:off x="2468047" y="1774460"/>
              <a:ext cx="901433" cy="35195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38" name="Isosceles Triangle 37">
              <a:extLst>
                <a:ext uri="{FF2B5EF4-FFF2-40B4-BE49-F238E27FC236}">
                  <a16:creationId xmlns:a16="http://schemas.microsoft.com/office/drawing/2014/main" id="{62A4FA24-F3BE-40D8-7580-E57C80FB14F1}"/>
                </a:ext>
              </a:extLst>
            </p:cNvPr>
            <p:cNvSpPr/>
            <p:nvPr/>
          </p:nvSpPr>
          <p:spPr>
            <a:xfrm>
              <a:off x="965093" y="3167076"/>
              <a:ext cx="1829892" cy="797542"/>
            </a:xfrm>
            <a:prstGeom prst="triangle">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900" kern="1200">
                  <a:solidFill>
                    <a:srgbClr val="000000"/>
                  </a:solidFill>
                  <a:effectLst/>
                  <a:ea typeface="DengXian" panose="02010600030101010101" pitchFamily="2" charset="-122"/>
                  <a:cs typeface="Times New Roman" panose="02020603050405020304" pitchFamily="18" charset="0"/>
                </a:rPr>
                <a:t>Origination SPV</a:t>
              </a:r>
              <a:endParaRPr lang="en-US" sz="1200" kern="100">
                <a:effectLst/>
                <a:ea typeface="DengXian" panose="02010600030101010101" pitchFamily="2" charset="-122"/>
                <a:cs typeface="Times New Roman" panose="02020603050405020304" pitchFamily="18" charset="0"/>
              </a:endParaRPr>
            </a:p>
          </p:txBody>
        </p:sp>
        <p:cxnSp>
          <p:nvCxnSpPr>
            <p:cNvPr id="39" name="Straight Connector 38">
              <a:extLst>
                <a:ext uri="{FF2B5EF4-FFF2-40B4-BE49-F238E27FC236}">
                  <a16:creationId xmlns:a16="http://schemas.microsoft.com/office/drawing/2014/main" id="{E508D931-A3E6-8C7B-E44C-3FE0301F5A68}"/>
                </a:ext>
              </a:extLst>
            </p:cNvPr>
            <p:cNvCxnSpPr>
              <a:cxnSpLocks/>
            </p:cNvCxnSpPr>
            <p:nvPr/>
          </p:nvCxnSpPr>
          <p:spPr>
            <a:xfrm>
              <a:off x="2893464" y="798542"/>
              <a:ext cx="1101801" cy="97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96F74B6-5BD4-00B1-6AAD-BAE3C15EEDA3}"/>
                </a:ext>
              </a:extLst>
            </p:cNvPr>
            <p:cNvCxnSpPr>
              <a:cxnSpLocks/>
              <a:stCxn id="43" idx="4"/>
            </p:cNvCxnSpPr>
            <p:nvPr/>
          </p:nvCxnSpPr>
          <p:spPr>
            <a:xfrm flipH="1">
              <a:off x="2893464" y="572266"/>
              <a:ext cx="1" cy="22725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9396F27-F51B-742A-3CA6-A8F3809FF61D}"/>
                </a:ext>
              </a:extLst>
            </p:cNvPr>
            <p:cNvCxnSpPr>
              <a:cxnSpLocks/>
              <a:stCxn id="44" idx="4"/>
            </p:cNvCxnSpPr>
            <p:nvPr/>
          </p:nvCxnSpPr>
          <p:spPr>
            <a:xfrm>
              <a:off x="3999340" y="572266"/>
              <a:ext cx="0" cy="23648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1AD819C2-6E81-13AB-A9AD-8F024A93D46E}"/>
                </a:ext>
              </a:extLst>
            </p:cNvPr>
            <p:cNvSpPr/>
            <p:nvPr/>
          </p:nvSpPr>
          <p:spPr>
            <a:xfrm>
              <a:off x="359281" y="53418"/>
              <a:ext cx="1111261" cy="572271"/>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U.S. taxable LPs</a:t>
              </a:r>
              <a:endParaRPr lang="en-US" sz="1200" kern="100">
                <a:effectLst/>
                <a:ea typeface="DengXian" panose="02010600030101010101" pitchFamily="2" charset="-122"/>
                <a:cs typeface="Times New Roman" panose="02020603050405020304" pitchFamily="18" charset="0"/>
              </a:endParaRPr>
            </a:p>
          </p:txBody>
        </p:sp>
        <p:sp>
          <p:nvSpPr>
            <p:cNvPr id="43" name="Oval 42">
              <a:extLst>
                <a:ext uri="{FF2B5EF4-FFF2-40B4-BE49-F238E27FC236}">
                  <a16:creationId xmlns:a16="http://schemas.microsoft.com/office/drawing/2014/main" id="{39E5D07C-435E-CA63-DA1A-B41D86F3BA97}"/>
                </a:ext>
              </a:extLst>
            </p:cNvPr>
            <p:cNvSpPr/>
            <p:nvPr/>
          </p:nvSpPr>
          <p:spPr>
            <a:xfrm>
              <a:off x="2408834" y="0"/>
              <a:ext cx="969261" cy="572266"/>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ECI-sensitive LPs</a:t>
              </a:r>
              <a:endParaRPr lang="en-US" sz="1200" kern="100">
                <a:effectLst/>
                <a:ea typeface="DengXian" panose="02010600030101010101" pitchFamily="2" charset="-122"/>
                <a:cs typeface="Times New Roman" panose="02020603050405020304" pitchFamily="18" charset="0"/>
              </a:endParaRPr>
            </a:p>
          </p:txBody>
        </p:sp>
        <p:sp>
          <p:nvSpPr>
            <p:cNvPr id="44" name="Oval 43">
              <a:extLst>
                <a:ext uri="{FF2B5EF4-FFF2-40B4-BE49-F238E27FC236}">
                  <a16:creationId xmlns:a16="http://schemas.microsoft.com/office/drawing/2014/main" id="{10C7BD70-ADE8-2211-F9C4-6B2B2691E50F}"/>
                </a:ext>
              </a:extLst>
            </p:cNvPr>
            <p:cNvSpPr/>
            <p:nvPr/>
          </p:nvSpPr>
          <p:spPr>
            <a:xfrm>
              <a:off x="3524722" y="0"/>
              <a:ext cx="949235" cy="572266"/>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a:solidFill>
                    <a:srgbClr val="000000"/>
                  </a:solidFill>
                  <a:effectLst/>
                  <a:ea typeface="DengXian" panose="02010600030101010101" pitchFamily="2" charset="-122"/>
                  <a:cs typeface="Times New Roman" panose="02020603050405020304" pitchFamily="18" charset="0"/>
                </a:rPr>
                <a:t>UBTI-sensitive LPs</a:t>
              </a:r>
              <a:endParaRPr lang="en-US" sz="1200" kern="100">
                <a:effectLst/>
                <a:ea typeface="DengXian" panose="02010600030101010101" pitchFamily="2" charset="-122"/>
                <a:cs typeface="Times New Roman" panose="02020603050405020304" pitchFamily="18" charset="0"/>
              </a:endParaRPr>
            </a:p>
          </p:txBody>
        </p:sp>
        <p:cxnSp>
          <p:nvCxnSpPr>
            <p:cNvPr id="45" name="Straight Connector 44">
              <a:extLst>
                <a:ext uri="{FF2B5EF4-FFF2-40B4-BE49-F238E27FC236}">
                  <a16:creationId xmlns:a16="http://schemas.microsoft.com/office/drawing/2014/main" id="{334FB4AA-3009-D48C-BC94-43BEEAA9BC0D}"/>
                </a:ext>
              </a:extLst>
            </p:cNvPr>
            <p:cNvCxnSpPr>
              <a:cxnSpLocks/>
            </p:cNvCxnSpPr>
            <p:nvPr/>
          </p:nvCxnSpPr>
          <p:spPr>
            <a:xfrm>
              <a:off x="1794192" y="3964619"/>
              <a:ext cx="0" cy="71887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784B17D-E4FB-04F1-10DB-EB4528A340D5}"/>
                </a:ext>
              </a:extLst>
            </p:cNvPr>
            <p:cNvCxnSpPr>
              <a:cxnSpLocks/>
              <a:stCxn id="59" idx="0"/>
              <a:endCxn id="42" idx="4"/>
            </p:cNvCxnSpPr>
            <p:nvPr/>
          </p:nvCxnSpPr>
          <p:spPr>
            <a:xfrm flipH="1" flipV="1">
              <a:off x="914911" y="625689"/>
              <a:ext cx="889" cy="488489"/>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724F852-303E-CA2E-6AAE-F9A7945D67BB}"/>
                </a:ext>
              </a:extLst>
            </p:cNvPr>
            <p:cNvCxnSpPr>
              <a:cxnSpLocks/>
              <a:endCxn id="50" idx="0"/>
            </p:cNvCxnSpPr>
            <p:nvPr/>
          </p:nvCxnSpPr>
          <p:spPr>
            <a:xfrm flipH="1">
              <a:off x="3369480" y="809676"/>
              <a:ext cx="2205" cy="19496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Isosceles Triangle 49">
              <a:extLst>
                <a:ext uri="{FF2B5EF4-FFF2-40B4-BE49-F238E27FC236}">
                  <a16:creationId xmlns:a16="http://schemas.microsoft.com/office/drawing/2014/main" id="{E95EFFEC-DC15-BE3F-58CB-BFBCDD3D91C1}"/>
                </a:ext>
              </a:extLst>
            </p:cNvPr>
            <p:cNvSpPr/>
            <p:nvPr/>
          </p:nvSpPr>
          <p:spPr>
            <a:xfrm>
              <a:off x="2423824" y="1004640"/>
              <a:ext cx="1891313" cy="769820"/>
            </a:xfrm>
            <a:prstGeom prst="triangle">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000" kern="1200" dirty="0">
                  <a:solidFill>
                    <a:srgbClr val="000000"/>
                  </a:solidFill>
                  <a:effectLst/>
                  <a:ea typeface="DengXian" panose="02010600030101010101" pitchFamily="2" charset="-122"/>
                  <a:cs typeface="Times New Roman" panose="02020603050405020304" pitchFamily="18" charset="0"/>
                </a:rPr>
                <a:t>Parallel</a:t>
              </a:r>
              <a:br>
                <a:rPr lang="en-US" sz="1000" dirty="0">
                  <a:solidFill>
                    <a:srgbClr val="000000"/>
                  </a:solidFill>
                  <a:ea typeface="DengXian" panose="02010600030101010101" pitchFamily="2" charset="-122"/>
                  <a:cs typeface="Times New Roman" panose="02020603050405020304" pitchFamily="18" charset="0"/>
                </a:rPr>
              </a:br>
              <a:r>
                <a:rPr lang="en-US" sz="800" dirty="0">
                  <a:solidFill>
                    <a:srgbClr val="000000"/>
                  </a:solidFill>
                  <a:ea typeface="DengXian" panose="02010600030101010101" pitchFamily="2" charset="-122"/>
                  <a:cs typeface="Times New Roman" panose="02020603050405020304" pitchFamily="18" charset="0"/>
                </a:rPr>
                <a:t>(Cayman or US)</a:t>
              </a:r>
              <a:endParaRPr lang="en-US" sz="800" kern="100" dirty="0">
                <a:effectLst/>
                <a:ea typeface="DengXian" panose="02010600030101010101" pitchFamily="2" charset="-122"/>
                <a:cs typeface="Times New Roman" panose="02020603050405020304" pitchFamily="18" charset="0"/>
              </a:endParaRPr>
            </a:p>
          </p:txBody>
        </p:sp>
        <p:sp>
          <p:nvSpPr>
            <p:cNvPr id="52" name="Rectangle 51">
              <a:extLst>
                <a:ext uri="{FF2B5EF4-FFF2-40B4-BE49-F238E27FC236}">
                  <a16:creationId xmlns:a16="http://schemas.microsoft.com/office/drawing/2014/main" id="{07F0C9AE-1F23-3B43-FFB0-E5B566B0B78D}"/>
                </a:ext>
              </a:extLst>
            </p:cNvPr>
            <p:cNvSpPr/>
            <p:nvPr/>
          </p:nvSpPr>
          <p:spPr>
            <a:xfrm>
              <a:off x="1993431" y="2126411"/>
              <a:ext cx="949231" cy="572270"/>
            </a:xfrm>
            <a:prstGeom prst="rect">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100" kern="1200" dirty="0">
                  <a:solidFill>
                    <a:srgbClr val="000000"/>
                  </a:solidFill>
                  <a:effectLst/>
                  <a:ea typeface="DengXian" panose="02010600030101010101" pitchFamily="2" charset="-122"/>
                  <a:cs typeface="Times New Roman" panose="02020603050405020304" pitchFamily="18" charset="0"/>
                </a:rPr>
                <a:t>U.S. Leveraged Blocker</a:t>
              </a:r>
              <a:endParaRPr lang="en-US" sz="1100" kern="100" dirty="0">
                <a:effectLst/>
                <a:ea typeface="DengXian" panose="02010600030101010101" pitchFamily="2" charset="-122"/>
                <a:cs typeface="Times New Roman" panose="02020603050405020304" pitchFamily="18" charset="0"/>
              </a:endParaRPr>
            </a:p>
          </p:txBody>
        </p:sp>
        <p:sp>
          <p:nvSpPr>
            <p:cNvPr id="53" name="Oval 52">
              <a:extLst>
                <a:ext uri="{FF2B5EF4-FFF2-40B4-BE49-F238E27FC236}">
                  <a16:creationId xmlns:a16="http://schemas.microsoft.com/office/drawing/2014/main" id="{11E1FE82-4785-C5AF-1090-3AE00CE188F9}"/>
                </a:ext>
              </a:extLst>
            </p:cNvPr>
            <p:cNvSpPr/>
            <p:nvPr/>
          </p:nvSpPr>
          <p:spPr>
            <a:xfrm>
              <a:off x="1260104" y="4586966"/>
              <a:ext cx="1249590" cy="447049"/>
            </a:xfrm>
            <a:prstGeom prst="ellipse">
              <a:avLst/>
            </a:prstGeom>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700" kern="1200" dirty="0">
                  <a:solidFill>
                    <a:srgbClr val="000000"/>
                  </a:solidFill>
                  <a:effectLst/>
                  <a:ea typeface="DengXian" panose="02010600030101010101" pitchFamily="2" charset="-122"/>
                  <a:cs typeface="Times New Roman" panose="02020603050405020304" pitchFamily="18" charset="0"/>
                </a:rPr>
                <a:t>Loans with borrowers</a:t>
              </a:r>
              <a:endParaRPr lang="en-US" sz="1200" kern="100" dirty="0">
                <a:effectLst/>
                <a:ea typeface="DengXian" panose="02010600030101010101" pitchFamily="2" charset="-122"/>
                <a:cs typeface="Times New Roman" panose="02020603050405020304" pitchFamily="18" charset="0"/>
              </a:endParaRPr>
            </a:p>
          </p:txBody>
        </p:sp>
        <p:sp>
          <p:nvSpPr>
            <p:cNvPr id="54" name="TextBox 68">
              <a:extLst>
                <a:ext uri="{FF2B5EF4-FFF2-40B4-BE49-F238E27FC236}">
                  <a16:creationId xmlns:a16="http://schemas.microsoft.com/office/drawing/2014/main" id="{79828B93-C4D0-6D7B-D9EC-1037B2F9716E}"/>
                </a:ext>
              </a:extLst>
            </p:cNvPr>
            <p:cNvSpPr txBox="1"/>
            <p:nvPr/>
          </p:nvSpPr>
          <p:spPr>
            <a:xfrm>
              <a:off x="2357775" y="1774460"/>
              <a:ext cx="650875" cy="372745"/>
            </a:xfrm>
            <a:prstGeom prst="rect">
              <a:avLst/>
            </a:prstGeom>
            <a:noFill/>
          </p:spPr>
          <p:txBody>
            <a:bodyPr wrap="square" rtlCol="0">
              <a:spAutoFit/>
            </a:bodyPr>
            <a:lstStyle/>
            <a:p>
              <a:pPr marL="0" marR="0">
                <a:lnSpc>
                  <a:spcPct val="115000"/>
                </a:lnSpc>
                <a:spcAft>
                  <a:spcPts val="800"/>
                </a:spcAft>
              </a:pPr>
              <a:r>
                <a:rPr lang="en-US" sz="10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t>Debt</a:t>
              </a:r>
              <a:endParaRPr lang="en-US" sz="1200" kern="100" dirty="0">
                <a:effectLst/>
                <a:latin typeface="Aptos" panose="020B0004020202020204" pitchFamily="34" charset="0"/>
                <a:ea typeface="DengXian" panose="02010600030101010101" pitchFamily="2" charset="-122"/>
                <a:cs typeface="Times New Roman" panose="02020603050405020304" pitchFamily="18" charset="0"/>
              </a:endParaRPr>
            </a:p>
          </p:txBody>
        </p:sp>
        <p:cxnSp>
          <p:nvCxnSpPr>
            <p:cNvPr id="55" name="Straight Connector 54">
              <a:extLst>
                <a:ext uri="{FF2B5EF4-FFF2-40B4-BE49-F238E27FC236}">
                  <a16:creationId xmlns:a16="http://schemas.microsoft.com/office/drawing/2014/main" id="{1A058E5A-2CEE-83A8-84DD-736F47FBF822}"/>
                </a:ext>
              </a:extLst>
            </p:cNvPr>
            <p:cNvCxnSpPr>
              <a:cxnSpLocks/>
            </p:cNvCxnSpPr>
            <p:nvPr/>
          </p:nvCxnSpPr>
          <p:spPr>
            <a:xfrm flipV="1">
              <a:off x="2312273" y="1795482"/>
              <a:ext cx="856766" cy="320420"/>
            </a:xfrm>
            <a:prstGeom prst="line">
              <a:avLst/>
            </a:prstGeom>
            <a:ln w="19050" cap="flat" cmpd="sng" algn="ctr">
              <a:solidFill>
                <a:schemeClr val="dk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7" name="Straight Connector 56">
              <a:extLst>
                <a:ext uri="{FF2B5EF4-FFF2-40B4-BE49-F238E27FC236}">
                  <a16:creationId xmlns:a16="http://schemas.microsoft.com/office/drawing/2014/main" id="{F152F699-6B62-46EB-CDD1-FD0F82E617BD}"/>
                </a:ext>
              </a:extLst>
            </p:cNvPr>
            <p:cNvCxnSpPr>
              <a:cxnSpLocks/>
              <a:stCxn id="52" idx="2"/>
              <a:endCxn id="38" idx="0"/>
            </p:cNvCxnSpPr>
            <p:nvPr/>
          </p:nvCxnSpPr>
          <p:spPr>
            <a:xfrm flipH="1">
              <a:off x="1880040" y="2698681"/>
              <a:ext cx="588007" cy="46839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59" name="Isosceles Triangle 58">
              <a:extLst>
                <a:ext uri="{FF2B5EF4-FFF2-40B4-BE49-F238E27FC236}">
                  <a16:creationId xmlns:a16="http://schemas.microsoft.com/office/drawing/2014/main" id="{A16B253A-BB8F-1C46-994B-7EA751A469D2}"/>
                </a:ext>
              </a:extLst>
            </p:cNvPr>
            <p:cNvSpPr/>
            <p:nvPr/>
          </p:nvSpPr>
          <p:spPr>
            <a:xfrm>
              <a:off x="146798" y="1114178"/>
              <a:ext cx="1538004" cy="660282"/>
            </a:xfrm>
            <a:prstGeom prst="triangle">
              <a:avLst/>
            </a:prstGeom>
            <a:solidFill>
              <a:schemeClr val="accent6">
                <a:lumMod val="40000"/>
                <a:lumOff val="60000"/>
              </a:schemeClr>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algn="ctr">
                <a:lnSpc>
                  <a:spcPct val="115000"/>
                </a:lnSpc>
                <a:spcAft>
                  <a:spcPts val="800"/>
                </a:spcAft>
              </a:pPr>
              <a:r>
                <a:rPr lang="en-US" sz="1200" kern="1200">
                  <a:solidFill>
                    <a:srgbClr val="000000"/>
                  </a:solidFill>
                  <a:effectLst/>
                  <a:ea typeface="DengXian" panose="02010600030101010101" pitchFamily="2" charset="-122"/>
                  <a:cs typeface="Times New Roman" panose="02020603050405020304" pitchFamily="18" charset="0"/>
                </a:rPr>
                <a:t>Main</a:t>
              </a:r>
              <a:endParaRPr lang="en-US" sz="1200" kern="100">
                <a:effectLst/>
                <a:ea typeface="DengXian" panose="02010600030101010101" pitchFamily="2" charset="-122"/>
                <a:cs typeface="Times New Roman" panose="02020603050405020304" pitchFamily="18" charset="0"/>
              </a:endParaRPr>
            </a:p>
          </p:txBody>
        </p:sp>
        <p:cxnSp>
          <p:nvCxnSpPr>
            <p:cNvPr id="61" name="Straight Connector 60">
              <a:extLst>
                <a:ext uri="{FF2B5EF4-FFF2-40B4-BE49-F238E27FC236}">
                  <a16:creationId xmlns:a16="http://schemas.microsoft.com/office/drawing/2014/main" id="{5BFD5EE3-5C39-5B67-4CD0-8F72696454A8}"/>
                </a:ext>
              </a:extLst>
            </p:cNvPr>
            <p:cNvCxnSpPr>
              <a:cxnSpLocks/>
              <a:stCxn id="38" idx="3"/>
              <a:endCxn id="53" idx="0"/>
            </p:cNvCxnSpPr>
            <p:nvPr/>
          </p:nvCxnSpPr>
          <p:spPr>
            <a:xfrm>
              <a:off x="1880039" y="3964619"/>
              <a:ext cx="4859" cy="622347"/>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65" name="TextBox 7">
              <a:extLst>
                <a:ext uri="{FF2B5EF4-FFF2-40B4-BE49-F238E27FC236}">
                  <a16:creationId xmlns:a16="http://schemas.microsoft.com/office/drawing/2014/main" id="{6640DFA6-2139-AFDC-5A2E-A084FE187D06}"/>
                </a:ext>
              </a:extLst>
            </p:cNvPr>
            <p:cNvSpPr txBox="1"/>
            <p:nvPr/>
          </p:nvSpPr>
          <p:spPr>
            <a:xfrm>
              <a:off x="2992853" y="1828589"/>
              <a:ext cx="650875" cy="562326"/>
            </a:xfrm>
            <a:prstGeom prst="rect">
              <a:avLst/>
            </a:prstGeom>
            <a:noFill/>
          </p:spPr>
          <p:txBody>
            <a:bodyPr wrap="square" rtlCol="0">
              <a:spAutoFit/>
            </a:bodyPr>
            <a:lstStyle/>
            <a:p>
              <a:pPr marL="0" marR="0">
                <a:lnSpc>
                  <a:spcPct val="115000"/>
                </a:lnSpc>
                <a:spcAft>
                  <a:spcPts val="800"/>
                </a:spcAft>
              </a:pPr>
              <a:r>
                <a:rPr lang="en-US" sz="9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t>Equity</a:t>
              </a:r>
              <a:br>
                <a:rPr lang="en-US" sz="9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br>
              <a:r>
                <a:rPr lang="en-US" sz="900" dirty="0">
                  <a:solidFill>
                    <a:srgbClr val="000000"/>
                  </a:solidFill>
                  <a:latin typeface="Aptos" panose="020B0004020202020204" pitchFamily="34" charset="0"/>
                  <a:ea typeface="DengXian" panose="02010600030101010101" pitchFamily="2" charset="-122"/>
                  <a:cs typeface="Times New Roman" panose="02020603050405020304" pitchFamily="18" charset="0"/>
                </a:rPr>
                <a:t>(Low-vote)</a:t>
              </a:r>
              <a:endParaRPr lang="en-US" sz="900" kern="100" dirty="0">
                <a:effectLst/>
                <a:latin typeface="Aptos" panose="020B0004020202020204" pitchFamily="34" charset="0"/>
                <a:ea typeface="DengXian" panose="02010600030101010101" pitchFamily="2" charset="-122"/>
                <a:cs typeface="Times New Roman" panose="02020603050405020304" pitchFamily="18" charset="0"/>
              </a:endParaRPr>
            </a:p>
          </p:txBody>
        </p:sp>
      </p:grpSp>
      <p:cxnSp>
        <p:nvCxnSpPr>
          <p:cNvPr id="68" name="Straight Connector 67">
            <a:extLst>
              <a:ext uri="{FF2B5EF4-FFF2-40B4-BE49-F238E27FC236}">
                <a16:creationId xmlns:a16="http://schemas.microsoft.com/office/drawing/2014/main" id="{461E23C5-9C0A-464E-D2D0-8B5ED1AC61F7}"/>
              </a:ext>
            </a:extLst>
          </p:cNvPr>
          <p:cNvCxnSpPr>
            <a:cxnSpLocks/>
            <a:stCxn id="59" idx="0"/>
          </p:cNvCxnSpPr>
          <p:nvPr/>
        </p:nvCxnSpPr>
        <p:spPr>
          <a:xfrm flipV="1">
            <a:off x="4190966" y="2060750"/>
            <a:ext cx="1158380" cy="3156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747F8C4-137D-6F80-8D28-88031439D01A}"/>
              </a:ext>
            </a:extLst>
          </p:cNvPr>
          <p:cNvCxnSpPr>
            <a:cxnSpLocks/>
            <a:stCxn id="50" idx="0"/>
          </p:cNvCxnSpPr>
          <p:nvPr/>
        </p:nvCxnSpPr>
        <p:spPr>
          <a:xfrm flipH="1" flipV="1">
            <a:off x="5349346" y="2060750"/>
            <a:ext cx="1295068" cy="2060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947D5FA-A775-DB9D-8245-C747BB2144DF}"/>
              </a:ext>
            </a:extLst>
          </p:cNvPr>
          <p:cNvCxnSpPr>
            <a:cxnSpLocks/>
          </p:cNvCxnSpPr>
          <p:nvPr/>
        </p:nvCxnSpPr>
        <p:spPr>
          <a:xfrm flipH="1" flipV="1">
            <a:off x="5388040" y="2069795"/>
            <a:ext cx="197372" cy="133013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TextBox 7">
            <a:extLst>
              <a:ext uri="{FF2B5EF4-FFF2-40B4-BE49-F238E27FC236}">
                <a16:creationId xmlns:a16="http://schemas.microsoft.com/office/drawing/2014/main" id="{F5BA9680-25CD-BAA2-CC3B-4B1C9A85E974}"/>
              </a:ext>
            </a:extLst>
          </p:cNvPr>
          <p:cNvSpPr txBox="1"/>
          <p:nvPr/>
        </p:nvSpPr>
        <p:spPr>
          <a:xfrm>
            <a:off x="5447141" y="2366814"/>
            <a:ext cx="650814" cy="562270"/>
          </a:xfrm>
          <a:prstGeom prst="rect">
            <a:avLst/>
          </a:prstGeom>
          <a:noFill/>
        </p:spPr>
        <p:txBody>
          <a:bodyPr wrap="square" rtlCol="0">
            <a:spAutoFit/>
          </a:bodyPr>
          <a:lstStyle/>
          <a:p>
            <a:pPr marL="0" marR="0">
              <a:lnSpc>
                <a:spcPct val="115000"/>
              </a:lnSpc>
              <a:spcAft>
                <a:spcPts val="800"/>
              </a:spcAft>
            </a:pPr>
            <a:r>
              <a:rPr lang="en-US" sz="9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t>Equity</a:t>
            </a:r>
            <a:br>
              <a:rPr lang="en-US" sz="900" kern="1200" dirty="0">
                <a:solidFill>
                  <a:srgbClr val="000000"/>
                </a:solidFill>
                <a:effectLst/>
                <a:latin typeface="Aptos" panose="020B0004020202020204" pitchFamily="34" charset="0"/>
                <a:ea typeface="DengXian" panose="02010600030101010101" pitchFamily="2" charset="-122"/>
                <a:cs typeface="Times New Roman" panose="02020603050405020304" pitchFamily="18" charset="0"/>
              </a:rPr>
            </a:br>
            <a:r>
              <a:rPr lang="en-US" sz="900" dirty="0">
                <a:solidFill>
                  <a:srgbClr val="000000"/>
                </a:solidFill>
                <a:latin typeface="Aptos" panose="020B0004020202020204" pitchFamily="34" charset="0"/>
                <a:ea typeface="DengXian" panose="02010600030101010101" pitchFamily="2" charset="-122"/>
                <a:cs typeface="Times New Roman" panose="02020603050405020304" pitchFamily="18" charset="0"/>
              </a:rPr>
              <a:t>(High-vote)</a:t>
            </a:r>
            <a:endParaRPr lang="en-US" sz="900" kern="100" dirty="0">
              <a:effectLst/>
              <a:latin typeface="Aptos" panose="020B0004020202020204" pitchFamily="34" charset="0"/>
              <a:ea typeface="DengXian" panose="02010600030101010101" pitchFamily="2" charset="-122"/>
              <a:cs typeface="Times New Roman" panose="02020603050405020304" pitchFamily="18" charset="0"/>
            </a:endParaRPr>
          </a:p>
        </p:txBody>
      </p:sp>
      <p:sp>
        <p:nvSpPr>
          <p:cNvPr id="85" name="Isosceles Triangle 84">
            <a:extLst>
              <a:ext uri="{FF2B5EF4-FFF2-40B4-BE49-F238E27FC236}">
                <a16:creationId xmlns:a16="http://schemas.microsoft.com/office/drawing/2014/main" id="{173A5737-9416-97DC-D4DC-E19467CECE1A}"/>
              </a:ext>
            </a:extLst>
          </p:cNvPr>
          <p:cNvSpPr/>
          <p:nvPr/>
        </p:nvSpPr>
        <p:spPr>
          <a:xfrm>
            <a:off x="4951246" y="1690411"/>
            <a:ext cx="671655" cy="379384"/>
          </a:xfrm>
          <a:prstGeom prst="triangl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algn="ctr">
              <a:lnSpc>
                <a:spcPct val="115000"/>
              </a:lnSpc>
              <a:spcAft>
                <a:spcPts val="800"/>
              </a:spcAft>
            </a:pPr>
            <a:r>
              <a:rPr lang="en-US" sz="900" kern="1200" dirty="0">
                <a:solidFill>
                  <a:srgbClr val="000000"/>
                </a:solidFill>
                <a:effectLst/>
                <a:ea typeface="DengXian" panose="02010600030101010101" pitchFamily="2" charset="-122"/>
                <a:cs typeface="Times New Roman" panose="02020603050405020304" pitchFamily="18" charset="0"/>
              </a:rPr>
              <a:t>GP</a:t>
            </a:r>
            <a:br>
              <a:rPr lang="en-US" sz="900" kern="100" dirty="0">
                <a:solidFill>
                  <a:srgbClr val="000000"/>
                </a:solidFill>
                <a:ea typeface="DengXian" panose="02010600030101010101" pitchFamily="2" charset="-122"/>
                <a:cs typeface="Times New Roman" panose="02020603050405020304" pitchFamily="18" charset="0"/>
              </a:rPr>
            </a:br>
            <a:endParaRPr lang="en-US" sz="900" kern="1200" dirty="0">
              <a:solidFill>
                <a:srgbClr val="000000"/>
              </a:solidFill>
              <a:effectLst/>
              <a:ea typeface="DengXian" panose="02010600030101010101" pitchFamily="2" charset="-122"/>
              <a:cs typeface="Times New Roman" panose="02020603050405020304" pitchFamily="18" charset="0"/>
            </a:endParaRPr>
          </a:p>
        </p:txBody>
      </p:sp>
      <p:sp>
        <p:nvSpPr>
          <p:cNvPr id="19" name="Title 1">
            <a:extLst>
              <a:ext uri="{FF2B5EF4-FFF2-40B4-BE49-F238E27FC236}">
                <a16:creationId xmlns:a16="http://schemas.microsoft.com/office/drawing/2014/main" id="{D3C51EDE-2803-F600-2B3C-04AA9AD1E697}"/>
              </a:ext>
            </a:extLst>
          </p:cNvPr>
          <p:cNvSpPr txBox="1">
            <a:spLocks/>
          </p:cNvSpPr>
          <p:nvPr/>
        </p:nvSpPr>
        <p:spPr>
          <a:xfrm>
            <a:off x="527136" y="511124"/>
            <a:ext cx="7325881" cy="50305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2.  Post-TCJA structure: leveraged blocker</a:t>
            </a:r>
            <a:endParaRPr lang="en-US" sz="2400" dirty="0"/>
          </a:p>
        </p:txBody>
      </p:sp>
      <p:sp>
        <p:nvSpPr>
          <p:cNvPr id="5" name="Slide Number Placeholder 4">
            <a:extLst>
              <a:ext uri="{FF2B5EF4-FFF2-40B4-BE49-F238E27FC236}">
                <a16:creationId xmlns:a16="http://schemas.microsoft.com/office/drawing/2014/main" id="{CB49C710-0491-3908-786C-D8B6046DCD23}"/>
              </a:ext>
            </a:extLst>
          </p:cNvPr>
          <p:cNvSpPr>
            <a:spLocks noGrp="1"/>
          </p:cNvSpPr>
          <p:nvPr>
            <p:ph type="sldNum" sz="quarter" idx="12"/>
          </p:nvPr>
        </p:nvSpPr>
        <p:spPr/>
        <p:txBody>
          <a:bodyPr/>
          <a:lstStyle/>
          <a:p>
            <a:fld id="{ADDA9D34-D8EF-4237-948B-BB7FF2FABC7B}" type="slidenum">
              <a:rPr lang="en-US" smtClean="0"/>
              <a:t>4</a:t>
            </a:fld>
            <a:endParaRPr lang="en-US"/>
          </a:p>
        </p:txBody>
      </p:sp>
      <p:cxnSp>
        <p:nvCxnSpPr>
          <p:cNvPr id="10" name="Straight Connector 9">
            <a:extLst>
              <a:ext uri="{FF2B5EF4-FFF2-40B4-BE49-F238E27FC236}">
                <a16:creationId xmlns:a16="http://schemas.microsoft.com/office/drawing/2014/main" id="{268991ED-096C-B99B-A965-7AD75355AEBC}"/>
              </a:ext>
            </a:extLst>
          </p:cNvPr>
          <p:cNvCxnSpPr>
            <a:cxnSpLocks/>
            <a:stCxn id="38" idx="0"/>
          </p:cNvCxnSpPr>
          <p:nvPr/>
        </p:nvCxnSpPr>
        <p:spPr>
          <a:xfrm flipV="1">
            <a:off x="5155114" y="2058357"/>
            <a:ext cx="157039" cy="237069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BF36779-2356-C4B0-3660-28606451DCF3}"/>
              </a:ext>
            </a:extLst>
          </p:cNvPr>
          <p:cNvCxnSpPr>
            <a:cxnSpLocks/>
            <a:stCxn id="38" idx="0"/>
            <a:endCxn id="59" idx="3"/>
          </p:cNvCxnSpPr>
          <p:nvPr/>
        </p:nvCxnSpPr>
        <p:spPr>
          <a:xfrm flipH="1" flipV="1">
            <a:off x="4190966" y="3036571"/>
            <a:ext cx="964148" cy="13924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A8D0A616-A4F1-9DBA-CDCA-BB4A634107C9}"/>
              </a:ext>
            </a:extLst>
          </p:cNvPr>
          <p:cNvSpPr/>
          <p:nvPr/>
        </p:nvSpPr>
        <p:spPr>
          <a:xfrm>
            <a:off x="5974351" y="5312721"/>
            <a:ext cx="939282" cy="536076"/>
          </a:xfrm>
          <a:prstGeom prst="ellipse">
            <a:avLst/>
          </a:prstGeom>
          <a:pattFill prst="smGrid">
            <a:fgClr>
              <a:srgbClr val="FFFF0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9CD1BFF8-94A3-9509-0E81-B6239A0C733C}"/>
              </a:ext>
            </a:extLst>
          </p:cNvPr>
          <p:cNvCxnSpPr>
            <a:cxnSpLocks/>
          </p:cNvCxnSpPr>
          <p:nvPr/>
        </p:nvCxnSpPr>
        <p:spPr>
          <a:xfrm flipV="1">
            <a:off x="6283245" y="5285051"/>
            <a:ext cx="0" cy="652083"/>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29150856-D692-A761-5C3D-FB30F592580E}"/>
              </a:ext>
            </a:extLst>
          </p:cNvPr>
          <p:cNvSpPr txBox="1"/>
          <p:nvPr/>
        </p:nvSpPr>
        <p:spPr>
          <a:xfrm>
            <a:off x="6252736" y="5425256"/>
            <a:ext cx="1230850" cy="276999"/>
          </a:xfrm>
          <a:prstGeom prst="rect">
            <a:avLst/>
          </a:prstGeom>
          <a:noFill/>
        </p:spPr>
        <p:txBody>
          <a:bodyPr wrap="none" rtlCol="0">
            <a:spAutoFit/>
          </a:bodyPr>
          <a:lstStyle/>
          <a:p>
            <a:r>
              <a:rPr lang="en-US" sz="1200" dirty="0">
                <a:solidFill>
                  <a:srgbClr val="00B050"/>
                </a:solidFill>
              </a:rPr>
              <a:t>Interest Income</a:t>
            </a:r>
          </a:p>
        </p:txBody>
      </p:sp>
      <p:sp>
        <p:nvSpPr>
          <p:cNvPr id="26" name="Oval 25">
            <a:extLst>
              <a:ext uri="{FF2B5EF4-FFF2-40B4-BE49-F238E27FC236}">
                <a16:creationId xmlns:a16="http://schemas.microsoft.com/office/drawing/2014/main" id="{37466202-23D4-C6BE-B404-209DD442CDCD}"/>
              </a:ext>
            </a:extLst>
          </p:cNvPr>
          <p:cNvSpPr/>
          <p:nvPr/>
        </p:nvSpPr>
        <p:spPr>
          <a:xfrm>
            <a:off x="5940567" y="4132581"/>
            <a:ext cx="939282" cy="536076"/>
          </a:xfrm>
          <a:prstGeom prst="ellipse">
            <a:avLst/>
          </a:prstGeom>
          <a:pattFill prst="smGrid">
            <a:fgClr>
              <a:srgbClr val="FFFF00"/>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3E989CF4-0144-4991-63B3-F99B2A3FB4B2}"/>
              </a:ext>
            </a:extLst>
          </p:cNvPr>
          <p:cNvCxnSpPr>
            <a:cxnSpLocks/>
          </p:cNvCxnSpPr>
          <p:nvPr/>
        </p:nvCxnSpPr>
        <p:spPr>
          <a:xfrm flipV="1">
            <a:off x="6249461" y="4104911"/>
            <a:ext cx="0" cy="652083"/>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19DF5F43-27F4-7A7F-0107-01E52DBD6937}"/>
              </a:ext>
            </a:extLst>
          </p:cNvPr>
          <p:cNvSpPr txBox="1"/>
          <p:nvPr/>
        </p:nvSpPr>
        <p:spPr>
          <a:xfrm>
            <a:off x="6218952" y="4245116"/>
            <a:ext cx="1230850" cy="276999"/>
          </a:xfrm>
          <a:prstGeom prst="rect">
            <a:avLst/>
          </a:prstGeom>
          <a:noFill/>
        </p:spPr>
        <p:txBody>
          <a:bodyPr wrap="none" rtlCol="0">
            <a:spAutoFit/>
          </a:bodyPr>
          <a:lstStyle/>
          <a:p>
            <a:r>
              <a:rPr lang="en-US" sz="1200" dirty="0">
                <a:solidFill>
                  <a:srgbClr val="00B050"/>
                </a:solidFill>
              </a:rPr>
              <a:t>Interest Income</a:t>
            </a:r>
          </a:p>
        </p:txBody>
      </p:sp>
      <p:sp>
        <p:nvSpPr>
          <p:cNvPr id="30" name="TextBox 29">
            <a:extLst>
              <a:ext uri="{FF2B5EF4-FFF2-40B4-BE49-F238E27FC236}">
                <a16:creationId xmlns:a16="http://schemas.microsoft.com/office/drawing/2014/main" id="{5AA384AD-6227-9766-1F8B-ED7AB5D8E595}"/>
              </a:ext>
            </a:extLst>
          </p:cNvPr>
          <p:cNvSpPr txBox="1"/>
          <p:nvPr/>
        </p:nvSpPr>
        <p:spPr>
          <a:xfrm>
            <a:off x="7069716" y="3204920"/>
            <a:ext cx="1372640" cy="276999"/>
          </a:xfrm>
          <a:prstGeom prst="rect">
            <a:avLst/>
          </a:prstGeom>
          <a:noFill/>
        </p:spPr>
        <p:txBody>
          <a:bodyPr wrap="square" rtlCol="0">
            <a:spAutoFit/>
          </a:bodyPr>
          <a:lstStyle/>
          <a:p>
            <a:r>
              <a:rPr lang="en-US" sz="1200" dirty="0">
                <a:solidFill>
                  <a:srgbClr val="00B050"/>
                </a:solidFill>
              </a:rPr>
              <a:t>Interest Income</a:t>
            </a:r>
          </a:p>
        </p:txBody>
      </p:sp>
      <p:cxnSp>
        <p:nvCxnSpPr>
          <p:cNvPr id="33" name="Straight Arrow Connector 32">
            <a:extLst>
              <a:ext uri="{FF2B5EF4-FFF2-40B4-BE49-F238E27FC236}">
                <a16:creationId xmlns:a16="http://schemas.microsoft.com/office/drawing/2014/main" id="{DA716A60-9283-3ED7-6C11-CE589F53A9C1}"/>
              </a:ext>
            </a:extLst>
          </p:cNvPr>
          <p:cNvCxnSpPr>
            <a:cxnSpLocks/>
          </p:cNvCxnSpPr>
          <p:nvPr/>
        </p:nvCxnSpPr>
        <p:spPr>
          <a:xfrm flipV="1">
            <a:off x="6834377" y="3161502"/>
            <a:ext cx="388722" cy="277190"/>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95448297-EA41-07EE-9B1C-6D8080C1433C}"/>
              </a:ext>
            </a:extLst>
          </p:cNvPr>
          <p:cNvSpPr txBox="1"/>
          <p:nvPr/>
        </p:nvSpPr>
        <p:spPr>
          <a:xfrm>
            <a:off x="8836762" y="907085"/>
            <a:ext cx="2682473" cy="3416320"/>
          </a:xfrm>
          <a:prstGeom prst="rect">
            <a:avLst/>
          </a:prstGeom>
          <a:noFill/>
        </p:spPr>
        <p:txBody>
          <a:bodyPr wrap="square" rtlCol="0">
            <a:spAutoFit/>
          </a:bodyPr>
          <a:lstStyle/>
          <a:p>
            <a:r>
              <a:rPr lang="en-US" dirty="0"/>
              <a:t>Key motivation for the change in structures was the corporate tax rate cut from 35% to 21%.  Using a “blocker” to convert business income into investment income was more worthwhile because of the decrease in the tax cost of using an entity subject to corporate tax.</a:t>
            </a:r>
          </a:p>
        </p:txBody>
      </p:sp>
    </p:spTree>
    <p:extLst>
      <p:ext uri="{BB962C8B-B14F-4D97-AF65-F5344CB8AC3E}">
        <p14:creationId xmlns:p14="http://schemas.microsoft.com/office/powerpoint/2010/main" val="3665911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178B5-EED9-0032-0DA0-AB8A986B62DB}"/>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48AE9D6C-F9A4-86CF-DC66-5E3ACBD3A3B8}"/>
              </a:ext>
            </a:extLst>
          </p:cNvPr>
          <p:cNvSpPr txBox="1">
            <a:spLocks/>
          </p:cNvSpPr>
          <p:nvPr/>
        </p:nvSpPr>
        <p:spPr>
          <a:xfrm>
            <a:off x="267057" y="161079"/>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2.  IRS Data</a:t>
            </a:r>
            <a:endParaRPr lang="en-US" sz="2400" dirty="0"/>
          </a:p>
        </p:txBody>
      </p:sp>
      <p:sp>
        <p:nvSpPr>
          <p:cNvPr id="80" name="Slide Number Placeholder 79">
            <a:extLst>
              <a:ext uri="{FF2B5EF4-FFF2-40B4-BE49-F238E27FC236}">
                <a16:creationId xmlns:a16="http://schemas.microsoft.com/office/drawing/2014/main" id="{C55F4CFE-3C83-563D-1F5D-1D1C141CAC19}"/>
              </a:ext>
            </a:extLst>
          </p:cNvPr>
          <p:cNvSpPr>
            <a:spLocks noGrp="1"/>
          </p:cNvSpPr>
          <p:nvPr>
            <p:ph type="sldNum" sz="quarter" idx="12"/>
          </p:nvPr>
        </p:nvSpPr>
        <p:spPr/>
        <p:txBody>
          <a:bodyPr/>
          <a:lstStyle/>
          <a:p>
            <a:fld id="{ADDA9D34-D8EF-4237-948B-BB7FF2FABC7B}" type="slidenum">
              <a:rPr lang="en-US" smtClean="0"/>
              <a:t>5</a:t>
            </a:fld>
            <a:endParaRPr lang="en-US"/>
          </a:p>
        </p:txBody>
      </p:sp>
      <p:sp>
        <p:nvSpPr>
          <p:cNvPr id="12" name="TextBox 11">
            <a:extLst>
              <a:ext uri="{FF2B5EF4-FFF2-40B4-BE49-F238E27FC236}">
                <a16:creationId xmlns:a16="http://schemas.microsoft.com/office/drawing/2014/main" id="{A041839D-2D6D-57C5-7E63-DFBF6316E73E}"/>
              </a:ext>
            </a:extLst>
          </p:cNvPr>
          <p:cNvSpPr txBox="1"/>
          <p:nvPr/>
        </p:nvSpPr>
        <p:spPr>
          <a:xfrm>
            <a:off x="600694" y="647521"/>
            <a:ext cx="11211208" cy="5355312"/>
          </a:xfrm>
          <a:prstGeom prst="rect">
            <a:avLst/>
          </a:prstGeom>
          <a:noFill/>
        </p:spPr>
        <p:txBody>
          <a:bodyPr wrap="square" rtlCol="0">
            <a:spAutoFit/>
          </a:bodyPr>
          <a:lstStyle/>
          <a:p>
            <a:r>
              <a:rPr lang="en-US" dirty="0"/>
              <a:t>IRS publishes data on U.S. source income to foreign recipients.  I used data from years 2015 to 2022 (to capture several years before and after TCJA).  For each year, the data captures data on payments to different types of entities. </a:t>
            </a:r>
            <a:r>
              <a:rPr lang="en-US" dirty="0">
                <a:hlinkClick r:id="rId3"/>
              </a:rPr>
              <a:t>SOI tax stats - Foreign recipients of U.S. income statistics | Internal Revenue Service</a:t>
            </a:r>
            <a:endParaRPr lang="en-US" dirty="0"/>
          </a:p>
          <a:p>
            <a:r>
              <a:rPr lang="en-US" b="1" dirty="0"/>
              <a:t>Entity data:  </a:t>
            </a:r>
            <a:r>
              <a:rPr lang="en-US" dirty="0"/>
              <a:t>Rows below classify income based on recipient type (individual, corporation, partnership, foreign government, etc.)</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3" name="Picture 2">
            <a:extLst>
              <a:ext uri="{FF2B5EF4-FFF2-40B4-BE49-F238E27FC236}">
                <a16:creationId xmlns:a16="http://schemas.microsoft.com/office/drawing/2014/main" id="{4DC91D50-EF34-70B0-B370-CBD346454943}"/>
              </a:ext>
            </a:extLst>
          </p:cNvPr>
          <p:cNvPicPr>
            <a:picLocks noChangeAspect="1"/>
          </p:cNvPicPr>
          <p:nvPr/>
        </p:nvPicPr>
        <p:blipFill>
          <a:blip r:embed="rId4"/>
          <a:stretch>
            <a:fillRect/>
          </a:stretch>
        </p:blipFill>
        <p:spPr>
          <a:xfrm>
            <a:off x="1301135" y="2203053"/>
            <a:ext cx="8766629" cy="4250647"/>
          </a:xfrm>
          <a:prstGeom prst="rect">
            <a:avLst/>
          </a:prstGeom>
        </p:spPr>
      </p:pic>
    </p:spTree>
    <p:extLst>
      <p:ext uri="{BB962C8B-B14F-4D97-AF65-F5344CB8AC3E}">
        <p14:creationId xmlns:p14="http://schemas.microsoft.com/office/powerpoint/2010/main" val="1283997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9A158-DCA9-D70E-78C6-3D47B6933D62}"/>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A288A116-8D52-792F-3BA1-F1CAA04346A0}"/>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2.  IRS Data</a:t>
            </a:r>
            <a:endParaRPr lang="en-US" sz="2400" dirty="0"/>
          </a:p>
        </p:txBody>
      </p:sp>
      <p:sp>
        <p:nvSpPr>
          <p:cNvPr id="80" name="Slide Number Placeholder 79">
            <a:extLst>
              <a:ext uri="{FF2B5EF4-FFF2-40B4-BE49-F238E27FC236}">
                <a16:creationId xmlns:a16="http://schemas.microsoft.com/office/drawing/2014/main" id="{E1FDBEC4-6B2E-198B-AFE3-CE99325292AE}"/>
              </a:ext>
            </a:extLst>
          </p:cNvPr>
          <p:cNvSpPr>
            <a:spLocks noGrp="1"/>
          </p:cNvSpPr>
          <p:nvPr>
            <p:ph type="sldNum" sz="quarter" idx="12"/>
          </p:nvPr>
        </p:nvSpPr>
        <p:spPr/>
        <p:txBody>
          <a:bodyPr/>
          <a:lstStyle/>
          <a:p>
            <a:fld id="{ADDA9D34-D8EF-4237-948B-BB7FF2FABC7B}" type="slidenum">
              <a:rPr lang="en-US" smtClean="0"/>
              <a:t>6</a:t>
            </a:fld>
            <a:endParaRPr lang="en-US"/>
          </a:p>
        </p:txBody>
      </p:sp>
      <p:sp>
        <p:nvSpPr>
          <p:cNvPr id="12" name="TextBox 11">
            <a:extLst>
              <a:ext uri="{FF2B5EF4-FFF2-40B4-BE49-F238E27FC236}">
                <a16:creationId xmlns:a16="http://schemas.microsoft.com/office/drawing/2014/main" id="{4B2E2F32-3218-08F7-CED9-AEC9A345888D}"/>
              </a:ext>
            </a:extLst>
          </p:cNvPr>
          <p:cNvSpPr txBox="1"/>
          <p:nvPr/>
        </p:nvSpPr>
        <p:spPr>
          <a:xfrm>
            <a:off x="716890" y="803564"/>
            <a:ext cx="11106447" cy="4524315"/>
          </a:xfrm>
          <a:prstGeom prst="rect">
            <a:avLst/>
          </a:prstGeom>
          <a:noFill/>
        </p:spPr>
        <p:txBody>
          <a:bodyPr wrap="square" rtlCol="0">
            <a:spAutoFit/>
          </a:bodyPr>
          <a:lstStyle/>
          <a:p>
            <a:r>
              <a:rPr lang="en-US" b="1" dirty="0"/>
              <a:t>Country data: </a:t>
            </a:r>
            <a:r>
              <a:rPr lang="en-US" dirty="0"/>
              <a:t>later rows in same excel files per year are classified by country</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4" name="Picture 3">
            <a:extLst>
              <a:ext uri="{FF2B5EF4-FFF2-40B4-BE49-F238E27FC236}">
                <a16:creationId xmlns:a16="http://schemas.microsoft.com/office/drawing/2014/main" id="{1804BBDA-158B-30D1-4303-03496E467F7A}"/>
              </a:ext>
            </a:extLst>
          </p:cNvPr>
          <p:cNvPicPr>
            <a:picLocks noChangeAspect="1"/>
          </p:cNvPicPr>
          <p:nvPr/>
        </p:nvPicPr>
        <p:blipFill>
          <a:blip r:embed="rId3"/>
          <a:stretch>
            <a:fillRect/>
          </a:stretch>
        </p:blipFill>
        <p:spPr>
          <a:xfrm>
            <a:off x="1450879" y="1382709"/>
            <a:ext cx="8607521" cy="5075559"/>
          </a:xfrm>
          <a:prstGeom prst="rect">
            <a:avLst/>
          </a:prstGeom>
        </p:spPr>
      </p:pic>
    </p:spTree>
    <p:extLst>
      <p:ext uri="{BB962C8B-B14F-4D97-AF65-F5344CB8AC3E}">
        <p14:creationId xmlns:p14="http://schemas.microsoft.com/office/powerpoint/2010/main" val="569186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BBC65-00D0-E70F-14CD-32ACEBD52239}"/>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11732126-19C2-8FBA-639A-F62A934B81E9}"/>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3.  Hypotheses</a:t>
            </a:r>
            <a:endParaRPr lang="en-US" sz="2400" dirty="0"/>
          </a:p>
        </p:txBody>
      </p:sp>
      <p:sp>
        <p:nvSpPr>
          <p:cNvPr id="80" name="Slide Number Placeholder 79">
            <a:extLst>
              <a:ext uri="{FF2B5EF4-FFF2-40B4-BE49-F238E27FC236}">
                <a16:creationId xmlns:a16="http://schemas.microsoft.com/office/drawing/2014/main" id="{99F68B28-29D0-FB1D-F84F-B25E115F52EF}"/>
              </a:ext>
            </a:extLst>
          </p:cNvPr>
          <p:cNvSpPr>
            <a:spLocks noGrp="1"/>
          </p:cNvSpPr>
          <p:nvPr>
            <p:ph type="sldNum" sz="quarter" idx="12"/>
          </p:nvPr>
        </p:nvSpPr>
        <p:spPr/>
        <p:txBody>
          <a:bodyPr/>
          <a:lstStyle/>
          <a:p>
            <a:fld id="{ADDA9D34-D8EF-4237-948B-BB7FF2FABC7B}" type="slidenum">
              <a:rPr lang="en-US" smtClean="0"/>
              <a:t>7</a:t>
            </a:fld>
            <a:endParaRPr lang="en-US"/>
          </a:p>
        </p:txBody>
      </p:sp>
      <p:sp>
        <p:nvSpPr>
          <p:cNvPr id="12" name="TextBox 11">
            <a:extLst>
              <a:ext uri="{FF2B5EF4-FFF2-40B4-BE49-F238E27FC236}">
                <a16:creationId xmlns:a16="http://schemas.microsoft.com/office/drawing/2014/main" id="{02E0212F-A6FF-6009-039C-C50DDB5A71C8}"/>
              </a:ext>
            </a:extLst>
          </p:cNvPr>
          <p:cNvSpPr txBox="1"/>
          <p:nvPr/>
        </p:nvSpPr>
        <p:spPr>
          <a:xfrm>
            <a:off x="621792" y="1089965"/>
            <a:ext cx="10944774" cy="4524315"/>
          </a:xfrm>
          <a:prstGeom prst="rect">
            <a:avLst/>
          </a:prstGeom>
          <a:noFill/>
        </p:spPr>
        <p:txBody>
          <a:bodyPr wrap="square" rtlCol="0">
            <a:spAutoFit/>
          </a:bodyPr>
          <a:lstStyle/>
          <a:p>
            <a:pPr marL="342900" indent="-342900">
              <a:buFont typeface="+mj-lt"/>
              <a:buAutoNum type="arabicPeriod"/>
            </a:pPr>
            <a:r>
              <a:rPr lang="en-US" b="1" dirty="0"/>
              <a:t>Interest income</a:t>
            </a:r>
          </a:p>
          <a:p>
            <a:endParaRPr lang="en-US" b="1" dirty="0"/>
          </a:p>
          <a:p>
            <a:r>
              <a:rPr lang="en-US" dirty="0"/>
              <a:t>Pre-TCJA, interest income was paid to Cayman entity treated as a corporation for U.S. tax purposes.  Post-TCJA, interest income would be paid to a U.S. corporation.  </a:t>
            </a:r>
          </a:p>
          <a:p>
            <a:pPr marL="285750" indent="-285750">
              <a:buFont typeface="Arial" panose="020B0604020202020204" pitchFamily="34" charset="0"/>
              <a:buChar char="•"/>
            </a:pPr>
            <a:r>
              <a:rPr lang="en-US" dirty="0"/>
              <a:t>Hypothesis A: using the entity data, interest income paid to foreign corporations would go down after TCJA.</a:t>
            </a:r>
          </a:p>
          <a:p>
            <a:pPr marL="285750" indent="-285750">
              <a:buFont typeface="Arial" panose="020B0604020202020204" pitchFamily="34" charset="0"/>
              <a:buChar char="•"/>
            </a:pPr>
            <a:r>
              <a:rPr lang="en-US" dirty="0"/>
              <a:t>Hypothesis B: using the country data, interest income paid to Cayman corporations would go down after TCJA.</a:t>
            </a:r>
          </a:p>
          <a:p>
            <a:endParaRPr lang="en-US" dirty="0"/>
          </a:p>
          <a:p>
            <a:pPr marL="342900" indent="-342900">
              <a:buAutoNum type="arabicPeriod" startAt="2"/>
            </a:pPr>
            <a:r>
              <a:rPr lang="en-US" b="1" dirty="0"/>
              <a:t>Forms 1042-S</a:t>
            </a:r>
          </a:p>
          <a:p>
            <a:endParaRPr lang="en-US" b="1" dirty="0"/>
          </a:p>
          <a:p>
            <a:r>
              <a:rPr lang="en-US" dirty="0"/>
              <a:t>Pre-TCJA, Forms 1042-S would be filed for each borrower paying interest through the fund to the Cayman corporate feeder.  Post-TCJA, Forms 1042-S would be filed by U.S. leveraged blocker to each investor in the Cayman partnership feeder.</a:t>
            </a:r>
          </a:p>
          <a:p>
            <a:pPr marL="342900" indent="-342900">
              <a:buFont typeface="Arial" panose="020B0604020202020204" pitchFamily="34" charset="0"/>
              <a:buChar char="•"/>
            </a:pPr>
            <a:r>
              <a:rPr lang="en-US" dirty="0"/>
              <a:t>Hypothesis:  If loan size is smaller than investor commitment size, that is, if number of borrowers are more than number of investors, number of forms 1042-S to Cayman entities would decrease after TJCA.</a:t>
            </a:r>
          </a:p>
          <a:p>
            <a:endParaRPr lang="en-US" dirty="0"/>
          </a:p>
        </p:txBody>
      </p:sp>
    </p:spTree>
    <p:extLst>
      <p:ext uri="{BB962C8B-B14F-4D97-AF65-F5344CB8AC3E}">
        <p14:creationId xmlns:p14="http://schemas.microsoft.com/office/powerpoint/2010/main" val="3592033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28A15-CB8C-F619-3765-503EF09E7564}"/>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C2C58DA-33A2-7E03-015C-3625189ADD2B}"/>
              </a:ext>
            </a:extLst>
          </p:cNvPr>
          <p:cNvSpPr txBox="1">
            <a:spLocks/>
          </p:cNvSpPr>
          <p:nvPr/>
        </p:nvSpPr>
        <p:spPr>
          <a:xfrm>
            <a:off x="445187" y="317122"/>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4.  Methodology</a:t>
            </a:r>
            <a:endParaRPr lang="en-US" sz="2400" dirty="0"/>
          </a:p>
        </p:txBody>
      </p:sp>
      <p:sp>
        <p:nvSpPr>
          <p:cNvPr id="80" name="Slide Number Placeholder 79">
            <a:extLst>
              <a:ext uri="{FF2B5EF4-FFF2-40B4-BE49-F238E27FC236}">
                <a16:creationId xmlns:a16="http://schemas.microsoft.com/office/drawing/2014/main" id="{E43C72CE-1E4A-0AD9-A73B-9AA1D94A7A10}"/>
              </a:ext>
            </a:extLst>
          </p:cNvPr>
          <p:cNvSpPr>
            <a:spLocks noGrp="1"/>
          </p:cNvSpPr>
          <p:nvPr>
            <p:ph type="sldNum" sz="quarter" idx="12"/>
          </p:nvPr>
        </p:nvSpPr>
        <p:spPr/>
        <p:txBody>
          <a:bodyPr/>
          <a:lstStyle/>
          <a:p>
            <a:fld id="{ADDA9D34-D8EF-4237-948B-BB7FF2FABC7B}" type="slidenum">
              <a:rPr lang="en-US" smtClean="0"/>
              <a:t>8</a:t>
            </a:fld>
            <a:endParaRPr lang="en-US"/>
          </a:p>
        </p:txBody>
      </p:sp>
      <p:sp>
        <p:nvSpPr>
          <p:cNvPr id="12" name="TextBox 11">
            <a:extLst>
              <a:ext uri="{FF2B5EF4-FFF2-40B4-BE49-F238E27FC236}">
                <a16:creationId xmlns:a16="http://schemas.microsoft.com/office/drawing/2014/main" id="{BA3D7C8B-9DE9-0CF3-6357-797D84362583}"/>
              </a:ext>
            </a:extLst>
          </p:cNvPr>
          <p:cNvSpPr txBox="1"/>
          <p:nvPr/>
        </p:nvSpPr>
        <p:spPr>
          <a:xfrm>
            <a:off x="621792" y="1089965"/>
            <a:ext cx="10672877" cy="5078313"/>
          </a:xfrm>
          <a:prstGeom prst="rect">
            <a:avLst/>
          </a:prstGeom>
          <a:noFill/>
        </p:spPr>
        <p:txBody>
          <a:bodyPr wrap="square" rtlCol="0">
            <a:spAutoFit/>
          </a:bodyPr>
          <a:lstStyle/>
          <a:p>
            <a:r>
              <a:rPr lang="en-US" b="1" dirty="0"/>
              <a:t>Difference in differences</a:t>
            </a:r>
          </a:p>
          <a:p>
            <a:endParaRPr lang="en-US" b="1" dirty="0"/>
          </a:p>
          <a:p>
            <a:r>
              <a:rPr lang="en-US" dirty="0"/>
              <a:t>Without the ability to do a randomized controlled trial, difference-in-difference regressions can help identify the treatment effect by comparing two variables that would move in parallel in the absence of treatment.  Any difference in how the variables move may then signal treatment effect.</a:t>
            </a:r>
          </a:p>
          <a:p>
            <a:endParaRPr lang="en-US" dirty="0"/>
          </a:p>
          <a:p>
            <a:r>
              <a:rPr lang="en-US" dirty="0"/>
              <a:t>Here, we would like to see the effect that the TCJA has on foreign corporations, as compared to the effect on other types of entities; or the effect the TCJA had on number of forms documenting payments made to foreign corporations, as compared to other types of entities.</a:t>
            </a:r>
          </a:p>
          <a:p>
            <a:endParaRPr lang="en-US" dirty="0"/>
          </a:p>
          <a:p>
            <a:endParaRPr lang="en-US" dirty="0"/>
          </a:p>
          <a:p>
            <a:endParaRPr lang="en-US" dirty="0"/>
          </a:p>
          <a:p>
            <a:endParaRPr lang="en-US" dirty="0"/>
          </a:p>
          <a:p>
            <a:endParaRPr lang="en-US" b="1" dirty="0"/>
          </a:p>
          <a:p>
            <a:endParaRPr lang="en-US" dirty="0"/>
          </a:p>
          <a:p>
            <a:endParaRPr lang="en-US" dirty="0"/>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698982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BEBAB-85F0-D8AB-7089-2244ECB6B1C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968414E5-A3E6-F548-3809-EA5A1374CD2D}"/>
              </a:ext>
            </a:extLst>
          </p:cNvPr>
          <p:cNvSpPr txBox="1">
            <a:spLocks/>
          </p:cNvSpPr>
          <p:nvPr/>
        </p:nvSpPr>
        <p:spPr>
          <a:xfrm>
            <a:off x="445186" y="317121"/>
            <a:ext cx="10973840" cy="104722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Hypothesis A: Interest income paid to foreign corporations dropped significantly after 2017, but increased in 2022</a:t>
            </a:r>
            <a:endParaRPr lang="en-US" sz="2400" dirty="0"/>
          </a:p>
        </p:txBody>
      </p:sp>
      <p:sp>
        <p:nvSpPr>
          <p:cNvPr id="80" name="Slide Number Placeholder 79">
            <a:extLst>
              <a:ext uri="{FF2B5EF4-FFF2-40B4-BE49-F238E27FC236}">
                <a16:creationId xmlns:a16="http://schemas.microsoft.com/office/drawing/2014/main" id="{C170F1B7-FD6A-136F-9996-E661753719BA}"/>
              </a:ext>
            </a:extLst>
          </p:cNvPr>
          <p:cNvSpPr>
            <a:spLocks noGrp="1"/>
          </p:cNvSpPr>
          <p:nvPr>
            <p:ph type="sldNum" sz="quarter" idx="12"/>
          </p:nvPr>
        </p:nvSpPr>
        <p:spPr/>
        <p:txBody>
          <a:bodyPr/>
          <a:lstStyle/>
          <a:p>
            <a:fld id="{ADDA9D34-D8EF-4237-948B-BB7FF2FABC7B}" type="slidenum">
              <a:rPr lang="en-US" smtClean="0"/>
              <a:t>9</a:t>
            </a:fld>
            <a:endParaRPr lang="en-US"/>
          </a:p>
        </p:txBody>
      </p:sp>
      <p:pic>
        <p:nvPicPr>
          <p:cNvPr id="2" name="Content Placeholder 6" descr="A graph showing the number of individuals&#10;&#10;AI-generated content may be incorrect.">
            <a:extLst>
              <a:ext uri="{FF2B5EF4-FFF2-40B4-BE49-F238E27FC236}">
                <a16:creationId xmlns:a16="http://schemas.microsoft.com/office/drawing/2014/main" id="{41B5BEED-4DEC-2855-6BBF-B99E530FDA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974" y="2230012"/>
            <a:ext cx="5053991" cy="3025656"/>
          </a:xfrm>
          <a:prstGeom prst="rect">
            <a:avLst/>
          </a:prstGeom>
        </p:spPr>
      </p:pic>
      <p:pic>
        <p:nvPicPr>
          <p:cNvPr id="3" name="Content Placeholder 5" descr="A graph with a line graph&#10;&#10;AI-generated content may be incorrect.">
            <a:extLst>
              <a:ext uri="{FF2B5EF4-FFF2-40B4-BE49-F238E27FC236}">
                <a16:creationId xmlns:a16="http://schemas.microsoft.com/office/drawing/2014/main" id="{0A683E9D-B416-4D2C-62AF-759D572ABE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2014" y="2230013"/>
            <a:ext cx="5053990" cy="3025656"/>
          </a:xfrm>
          <a:prstGeom prst="rect">
            <a:avLst/>
          </a:prstGeom>
        </p:spPr>
      </p:pic>
    </p:spTree>
    <p:extLst>
      <p:ext uri="{BB962C8B-B14F-4D97-AF65-F5344CB8AC3E}">
        <p14:creationId xmlns:p14="http://schemas.microsoft.com/office/powerpoint/2010/main" val="2863936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4A507-6AE6-D70B-12D4-AD7190C029DF}"/>
            </a:ext>
          </a:extLst>
        </p:cNvPr>
        <p:cNvGrpSpPr/>
        <p:nvPr/>
      </p:nvGrpSpPr>
      <p:grpSpPr>
        <a:xfrm>
          <a:off x="0" y="0"/>
          <a:ext cx="0" cy="0"/>
          <a:chOff x="0" y="0"/>
          <a:chExt cx="0" cy="0"/>
        </a:xfrm>
      </p:grpSpPr>
      <p:sp>
        <p:nvSpPr>
          <p:cNvPr id="80" name="Slide Number Placeholder 79">
            <a:extLst>
              <a:ext uri="{FF2B5EF4-FFF2-40B4-BE49-F238E27FC236}">
                <a16:creationId xmlns:a16="http://schemas.microsoft.com/office/drawing/2014/main" id="{B83E322F-3F83-DBA9-21F9-A8FAB7F005DF}"/>
              </a:ext>
            </a:extLst>
          </p:cNvPr>
          <p:cNvSpPr>
            <a:spLocks noGrp="1"/>
          </p:cNvSpPr>
          <p:nvPr>
            <p:ph type="sldNum" sz="quarter" idx="12"/>
          </p:nvPr>
        </p:nvSpPr>
        <p:spPr/>
        <p:txBody>
          <a:bodyPr/>
          <a:lstStyle/>
          <a:p>
            <a:fld id="{ADDA9D34-D8EF-4237-948B-BB7FF2FABC7B}" type="slidenum">
              <a:rPr lang="en-US" smtClean="0"/>
              <a:t>10</a:t>
            </a:fld>
            <a:endParaRPr lang="en-US"/>
          </a:p>
        </p:txBody>
      </p:sp>
      <p:pic>
        <p:nvPicPr>
          <p:cNvPr id="5" name="Picture 4" descr="A graph showing the value of a number of individuals&#10;&#10;AI-generated content may be incorrect.">
            <a:extLst>
              <a:ext uri="{FF2B5EF4-FFF2-40B4-BE49-F238E27FC236}">
                <a16:creationId xmlns:a16="http://schemas.microsoft.com/office/drawing/2014/main" id="{D92F0E7C-C1F8-B0F5-AB26-CB96AFC09D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186" y="1640114"/>
            <a:ext cx="5772247" cy="3882798"/>
          </a:xfrm>
          <a:prstGeom prst="rect">
            <a:avLst/>
          </a:prstGeom>
        </p:spPr>
      </p:pic>
      <p:pic>
        <p:nvPicPr>
          <p:cNvPr id="7" name="Picture 6" descr="A graph with colored lines and numbers&#10;&#10;AI-generated content may be incorrect.">
            <a:extLst>
              <a:ext uri="{FF2B5EF4-FFF2-40B4-BE49-F238E27FC236}">
                <a16:creationId xmlns:a16="http://schemas.microsoft.com/office/drawing/2014/main" id="{69417462-CC42-EE01-F522-96D0332F40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7433" y="1971675"/>
            <a:ext cx="5715000" cy="2914650"/>
          </a:xfrm>
          <a:prstGeom prst="rect">
            <a:avLst/>
          </a:prstGeom>
        </p:spPr>
      </p:pic>
      <p:sp>
        <p:nvSpPr>
          <p:cNvPr id="2" name="Title 1">
            <a:extLst>
              <a:ext uri="{FF2B5EF4-FFF2-40B4-BE49-F238E27FC236}">
                <a16:creationId xmlns:a16="http://schemas.microsoft.com/office/drawing/2014/main" id="{6EF552AA-1C4D-2408-DB19-89A8509DA335}"/>
              </a:ext>
            </a:extLst>
          </p:cNvPr>
          <p:cNvSpPr txBox="1">
            <a:spLocks/>
          </p:cNvSpPr>
          <p:nvPr/>
        </p:nvSpPr>
        <p:spPr>
          <a:xfrm>
            <a:off x="445186" y="317121"/>
            <a:ext cx="10973840" cy="104722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Hypothesis A: Interest income paid to foreign corporations dropped significantly after 2017, but increased in 2022</a:t>
            </a:r>
            <a:endParaRPr lang="en-US" sz="2400" dirty="0"/>
          </a:p>
        </p:txBody>
      </p:sp>
    </p:spTree>
    <p:extLst>
      <p:ext uri="{BB962C8B-B14F-4D97-AF65-F5344CB8AC3E}">
        <p14:creationId xmlns:p14="http://schemas.microsoft.com/office/powerpoint/2010/main" val="2198515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175CD-6341-E980-FB90-9168E59BE92E}"/>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C8F48C23-9AEB-C336-F5CC-9675B8972C90}"/>
              </a:ext>
            </a:extLst>
          </p:cNvPr>
          <p:cNvSpPr txBox="1">
            <a:spLocks/>
          </p:cNvSpPr>
          <p:nvPr/>
        </p:nvSpPr>
        <p:spPr>
          <a:xfrm>
            <a:off x="445187" y="317122"/>
            <a:ext cx="5464546"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Interest Income – Hypothesis A Results</a:t>
            </a:r>
            <a:endParaRPr lang="en-US" sz="2400" dirty="0"/>
          </a:p>
        </p:txBody>
      </p:sp>
      <p:sp>
        <p:nvSpPr>
          <p:cNvPr id="80" name="Slide Number Placeholder 79">
            <a:extLst>
              <a:ext uri="{FF2B5EF4-FFF2-40B4-BE49-F238E27FC236}">
                <a16:creationId xmlns:a16="http://schemas.microsoft.com/office/drawing/2014/main" id="{3BEFAE4D-9867-DD4E-F4C0-C7449FD7E753}"/>
              </a:ext>
            </a:extLst>
          </p:cNvPr>
          <p:cNvSpPr>
            <a:spLocks noGrp="1"/>
          </p:cNvSpPr>
          <p:nvPr>
            <p:ph type="sldNum" sz="quarter" idx="12"/>
          </p:nvPr>
        </p:nvSpPr>
        <p:spPr/>
        <p:txBody>
          <a:bodyPr/>
          <a:lstStyle/>
          <a:p>
            <a:fld id="{ADDA9D34-D8EF-4237-948B-BB7FF2FABC7B}" type="slidenum">
              <a:rPr lang="en-US" smtClean="0"/>
              <a:t>11</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9BF7E3A-FFEC-121C-44D2-CC9EB8C928C4}"/>
                  </a:ext>
                </a:extLst>
              </p:cNvPr>
              <p:cNvSpPr txBox="1"/>
              <p:nvPr/>
            </p:nvSpPr>
            <p:spPr>
              <a:xfrm>
                <a:off x="738447" y="690276"/>
                <a:ext cx="10715105" cy="4524315"/>
              </a:xfrm>
              <a:prstGeom prst="rect">
                <a:avLst/>
              </a:prstGeom>
              <a:noFill/>
            </p:spPr>
            <p:txBody>
              <a:bodyPr wrap="square" rtlCol="0">
                <a:spAutoFit/>
              </a:bodyPr>
              <a:lstStyle/>
              <a:p>
                <a:endParaRPr lang="en-US" sz="1600" dirty="0"/>
              </a:p>
              <a:p>
                <a:r>
                  <a:rPr lang="en-US" sz="1600" dirty="0"/>
                  <a:t>We use </a:t>
                </a:r>
                <a:r>
                  <a:rPr lang="en-US" sz="1600" dirty="0" err="1"/>
                  <a:t>DiD</a:t>
                </a:r>
                <a:r>
                  <a:rPr lang="en-US" sz="1600" dirty="0"/>
                  <a:t> to determine how much the share of total interest paid to foreign corporations changed after the TCJA, as compared to how much share of total interest paid to other types of entities changed after the TCJA.</a:t>
                </a:r>
              </a:p>
              <a:p>
                <a:endParaRPr lang="en-US" sz="1600" dirty="0"/>
              </a:p>
              <a:p>
                <a:r>
                  <a:rPr lang="en-US" sz="1600" dirty="0"/>
                  <a:t>Share of total interest = </a:t>
                </a:r>
                <a14:m>
                  <m:oMath xmlns:m="http://schemas.openxmlformats.org/officeDocument/2006/math">
                    <m:r>
                      <a:rPr lang="en-US" sz="1600" i="1">
                        <a:latin typeface="Cambria Math" panose="02040503050406030204" pitchFamily="18" charset="0"/>
                      </a:rPr>
                      <m:t>𝑎</m:t>
                    </m:r>
                    <m:r>
                      <a:rPr lang="en-US" sz="1600" i="1">
                        <a:latin typeface="Cambria Math" panose="02040503050406030204" pitchFamily="18" charset="0"/>
                      </a:rPr>
                      <m:t>+</m:t>
                    </m:r>
                    <m:r>
                      <a:rPr lang="en-US" sz="1600" i="1">
                        <a:latin typeface="Cambria Math" panose="02040503050406030204" pitchFamily="18" charset="0"/>
                      </a:rPr>
                      <m:t>𝑏</m:t>
                    </m:r>
                    <m:r>
                      <a:rPr lang="en-US" sz="1600" i="1">
                        <a:latin typeface="Cambria Math" panose="02040503050406030204" pitchFamily="18" charset="0"/>
                      </a:rPr>
                      <m:t>∗ </m:t>
                    </m:r>
                    <m:d>
                      <m:dPr>
                        <m:ctrlPr>
                          <a:rPr lang="en-US" sz="1600" i="1">
                            <a:latin typeface="Cambria Math" panose="02040503050406030204" pitchFamily="18" charset="0"/>
                          </a:rPr>
                        </m:ctrlPr>
                      </m:dPr>
                      <m:e>
                        <m:r>
                          <a:rPr lang="en-US" sz="1600" i="1">
                            <a:latin typeface="Cambria Math" panose="02040503050406030204" pitchFamily="18" charset="0"/>
                          </a:rPr>
                          <m:t>𝑎𝑓𝑡𝑒𝑟</m:t>
                        </m:r>
                        <m:r>
                          <a:rPr lang="en-US" sz="1600" i="1">
                            <a:latin typeface="Cambria Math" panose="02040503050406030204" pitchFamily="18" charset="0"/>
                          </a:rPr>
                          <m:t> </m:t>
                        </m:r>
                        <m:r>
                          <a:rPr lang="en-US" sz="1600" i="1">
                            <a:latin typeface="Cambria Math" panose="02040503050406030204" pitchFamily="18" charset="0"/>
                          </a:rPr>
                          <m:t>𝑇𝐶𝐽𝐴</m:t>
                        </m:r>
                      </m:e>
                    </m:d>
                    <m:r>
                      <a:rPr lang="en-US" sz="1600" i="1">
                        <a:latin typeface="Cambria Math" panose="02040503050406030204" pitchFamily="18" charset="0"/>
                      </a:rPr>
                      <m:t>+</m:t>
                    </m:r>
                    <m:r>
                      <a:rPr lang="en-US" sz="1600" i="1">
                        <a:latin typeface="Cambria Math" panose="02040503050406030204" pitchFamily="18" charset="0"/>
                      </a:rPr>
                      <m:t>𝑐</m:t>
                    </m:r>
                    <m:r>
                      <a:rPr lang="en-US" sz="1600" i="1">
                        <a:latin typeface="Cambria Math" panose="02040503050406030204" pitchFamily="18" charset="0"/>
                      </a:rPr>
                      <m:t>∗ </m:t>
                    </m:r>
                  </m:oMath>
                </a14:m>
                <a:r>
                  <a:rPr lang="en-US" sz="1600" i="1" dirty="0"/>
                  <a:t>(year) + </a:t>
                </a:r>
                <a:r>
                  <a:rPr lang="en-US" sz="1600" b="1" i="1" dirty="0"/>
                  <a:t>d * (total U.S. source income) </a:t>
                </a:r>
                <a:r>
                  <a:rPr lang="en-US" sz="1600" i="1" dirty="0"/>
                  <a:t>+ e* (recipient type) + f * (after TCJA &amp; foreign </a:t>
                </a:r>
                <a:r>
                  <a:rPr lang="en-US" sz="1600" i="1" dirty="0" err="1"/>
                  <a:t>corp</a:t>
                </a:r>
                <a:r>
                  <a:rPr lang="en-US" sz="1600" i="1" dirty="0"/>
                  <a:t>) + g </a:t>
                </a:r>
              </a:p>
              <a:p>
                <a:endParaRPr lang="en-US" sz="1600" dirty="0"/>
              </a:p>
              <a:p>
                <a:r>
                  <a:rPr lang="en-US" sz="1600" dirty="0"/>
                  <a:t>The dependent variable (outcome variable) is share of total interest.   Independent variables include variables in the data that could affect the result (share of total interest) independent of the TCJA.  </a:t>
                </a:r>
              </a:p>
              <a:p>
                <a:endParaRPr lang="en-US" sz="1600" dirty="0"/>
              </a:p>
              <a:p>
                <a:r>
                  <a:rPr lang="en-US" sz="1600" dirty="0"/>
                  <a:t>These include whether it is after TCJA (0 if no, 1 if yes), year, share of total U.S. source income recipient type.  The difference-in-differences coefficient is “f”, which tells us the effect that the TCJA had on share of total interest paid to foreign corps.  The variable of interest is foreign corporations after TCJA.</a:t>
                </a:r>
              </a:p>
              <a:p>
                <a:endParaRPr lang="en-US" sz="1600" dirty="0"/>
              </a:p>
              <a:p>
                <a:r>
                  <a:rPr lang="en-US" sz="1600" dirty="0"/>
                  <a:t>“a” and “g” capture the intercept and residual error, respectively.</a:t>
                </a:r>
              </a:p>
              <a:p>
                <a:endParaRPr lang="en-US" sz="1600" dirty="0"/>
              </a:p>
              <a:p>
                <a:endParaRPr lang="en-US" sz="1600" dirty="0"/>
              </a:p>
              <a:p>
                <a:endParaRPr lang="en-US" sz="1600" dirty="0"/>
              </a:p>
            </p:txBody>
          </p:sp>
        </mc:Choice>
        <mc:Fallback xmlns="">
          <p:sp>
            <p:nvSpPr>
              <p:cNvPr id="12" name="TextBox 11">
                <a:extLst>
                  <a:ext uri="{FF2B5EF4-FFF2-40B4-BE49-F238E27FC236}">
                    <a16:creationId xmlns:a16="http://schemas.microsoft.com/office/drawing/2014/main" id="{A9BF7E3A-FFEC-121C-44D2-CC9EB8C928C4}"/>
                  </a:ext>
                </a:extLst>
              </p:cNvPr>
              <p:cNvSpPr txBox="1">
                <a:spLocks noRot="1" noChangeAspect="1" noMove="1" noResize="1" noEditPoints="1" noAdjustHandles="1" noChangeArrowheads="1" noChangeShapeType="1" noTextEdit="1"/>
              </p:cNvSpPr>
              <p:nvPr/>
            </p:nvSpPr>
            <p:spPr>
              <a:xfrm>
                <a:off x="738447" y="690276"/>
                <a:ext cx="10715105" cy="4524315"/>
              </a:xfrm>
              <a:prstGeom prst="rect">
                <a:avLst/>
              </a:prstGeom>
              <a:blipFill>
                <a:blip r:embed="rId3"/>
                <a:stretch>
                  <a:fillRect l="-284" r="-57"/>
                </a:stretch>
              </a:blipFill>
            </p:spPr>
            <p:txBody>
              <a:bodyPr/>
              <a:lstStyle/>
              <a:p>
                <a:r>
                  <a:rPr lang="en-US">
                    <a:noFill/>
                  </a:rPr>
                  <a:t> </a:t>
                </a:r>
              </a:p>
            </p:txBody>
          </p:sp>
        </mc:Fallback>
      </mc:AlternateContent>
    </p:spTree>
    <p:extLst>
      <p:ext uri="{BB962C8B-B14F-4D97-AF65-F5344CB8AC3E}">
        <p14:creationId xmlns:p14="http://schemas.microsoft.com/office/powerpoint/2010/main" val="3533699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34556-615A-9295-3D20-43ECCEC25039}"/>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E5971305-EA93-CEDC-4680-48F2676ADE95}"/>
              </a:ext>
            </a:extLst>
          </p:cNvPr>
          <p:cNvSpPr txBox="1">
            <a:spLocks/>
          </p:cNvSpPr>
          <p:nvPr/>
        </p:nvSpPr>
        <p:spPr>
          <a:xfrm>
            <a:off x="445186" y="317122"/>
            <a:ext cx="5117413" cy="486442"/>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Interest Income – Hypothesis A Results</a:t>
            </a:r>
            <a:endParaRPr lang="en-US" sz="2400" dirty="0"/>
          </a:p>
        </p:txBody>
      </p:sp>
      <p:sp>
        <p:nvSpPr>
          <p:cNvPr id="80" name="Slide Number Placeholder 79">
            <a:extLst>
              <a:ext uri="{FF2B5EF4-FFF2-40B4-BE49-F238E27FC236}">
                <a16:creationId xmlns:a16="http://schemas.microsoft.com/office/drawing/2014/main" id="{0FA69757-F7B6-FC8E-BCC9-ECB6673EA7B3}"/>
              </a:ext>
            </a:extLst>
          </p:cNvPr>
          <p:cNvSpPr>
            <a:spLocks noGrp="1"/>
          </p:cNvSpPr>
          <p:nvPr>
            <p:ph type="sldNum" sz="quarter" idx="12"/>
          </p:nvPr>
        </p:nvSpPr>
        <p:spPr/>
        <p:txBody>
          <a:bodyPr/>
          <a:lstStyle/>
          <a:p>
            <a:fld id="{ADDA9D34-D8EF-4237-948B-BB7FF2FABC7B}" type="slidenum">
              <a:rPr lang="en-US" smtClean="0"/>
              <a:t>12</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373EA6B-0852-9833-92AE-333B51D68713}"/>
                  </a:ext>
                </a:extLst>
              </p:cNvPr>
              <p:cNvSpPr txBox="1"/>
              <p:nvPr/>
            </p:nvSpPr>
            <p:spPr>
              <a:xfrm>
                <a:off x="738447" y="690276"/>
                <a:ext cx="10715105" cy="5262979"/>
              </a:xfrm>
              <a:prstGeom prst="rect">
                <a:avLst/>
              </a:prstGeom>
              <a:noFill/>
            </p:spPr>
            <p:txBody>
              <a:bodyPr wrap="square" rtlCol="0">
                <a:spAutoFit/>
              </a:bodyPr>
              <a:lstStyle/>
              <a:p>
                <a:endParaRPr lang="en-US" sz="1600" dirty="0"/>
              </a:p>
              <a:p>
                <a:r>
                  <a:rPr lang="en-US" sz="1600" dirty="0"/>
                  <a:t>I revised the equations so that the variable to control for size of entity would not be total U.S. source income but </a:t>
                </a:r>
                <a:r>
                  <a:rPr lang="en-US" sz="1600" i="1" dirty="0"/>
                  <a:t>share of </a:t>
                </a:r>
                <a:r>
                  <a:rPr lang="en-US" sz="1600" dirty="0"/>
                  <a:t>total U.S. source income (to better align with the outcome variable being share of total interest).  I also revised the equation to exclude interest income to minimize circularity (i.e. so as not to control for interest in determining effect on interest).</a:t>
                </a:r>
              </a:p>
              <a:p>
                <a:endParaRPr lang="en-US" sz="1600" dirty="0"/>
              </a:p>
              <a:p>
                <a:r>
                  <a:rPr lang="en-US" sz="1600" dirty="0"/>
                  <a:t>So the three regressions were:</a:t>
                </a:r>
              </a:p>
              <a:p>
                <a:endParaRPr lang="en-US" sz="1600" dirty="0"/>
              </a:p>
              <a:p>
                <a:r>
                  <a:rPr lang="en-US" sz="1600" dirty="0"/>
                  <a:t>Share of total interest = </a:t>
                </a:r>
                <a14:m>
                  <m:oMath xmlns:m="http://schemas.openxmlformats.org/officeDocument/2006/math">
                    <m:r>
                      <a:rPr lang="en-US" sz="1600" i="1">
                        <a:latin typeface="Cambria Math" panose="02040503050406030204" pitchFamily="18" charset="0"/>
                      </a:rPr>
                      <m:t>𝑎</m:t>
                    </m:r>
                    <m:r>
                      <a:rPr lang="en-US" sz="1600" i="1">
                        <a:latin typeface="Cambria Math" panose="02040503050406030204" pitchFamily="18" charset="0"/>
                      </a:rPr>
                      <m:t>+</m:t>
                    </m:r>
                    <m:r>
                      <a:rPr lang="en-US" sz="1600" i="1">
                        <a:latin typeface="Cambria Math" panose="02040503050406030204" pitchFamily="18" charset="0"/>
                      </a:rPr>
                      <m:t>𝑏</m:t>
                    </m:r>
                    <m:r>
                      <a:rPr lang="en-US" sz="1600" i="1">
                        <a:latin typeface="Cambria Math" panose="02040503050406030204" pitchFamily="18" charset="0"/>
                      </a:rPr>
                      <m:t>∗ </m:t>
                    </m:r>
                    <m:d>
                      <m:dPr>
                        <m:ctrlPr>
                          <a:rPr lang="en-US" sz="1600" i="1">
                            <a:latin typeface="Cambria Math" panose="02040503050406030204" pitchFamily="18" charset="0"/>
                          </a:rPr>
                        </m:ctrlPr>
                      </m:dPr>
                      <m:e>
                        <m:r>
                          <a:rPr lang="en-US" sz="1600" i="1">
                            <a:latin typeface="Cambria Math" panose="02040503050406030204" pitchFamily="18" charset="0"/>
                          </a:rPr>
                          <m:t>𝑎𝑓𝑡𝑒𝑟</m:t>
                        </m:r>
                        <m:r>
                          <a:rPr lang="en-US" sz="1600" i="1">
                            <a:latin typeface="Cambria Math" panose="02040503050406030204" pitchFamily="18" charset="0"/>
                          </a:rPr>
                          <m:t> </m:t>
                        </m:r>
                        <m:r>
                          <a:rPr lang="en-US" sz="1600" i="1">
                            <a:latin typeface="Cambria Math" panose="02040503050406030204" pitchFamily="18" charset="0"/>
                          </a:rPr>
                          <m:t>𝑇𝐶𝐽𝐴</m:t>
                        </m:r>
                      </m:e>
                    </m:d>
                    <m:r>
                      <a:rPr lang="en-US" sz="1600" i="1">
                        <a:latin typeface="Cambria Math" panose="02040503050406030204" pitchFamily="18" charset="0"/>
                      </a:rPr>
                      <m:t>+</m:t>
                    </m:r>
                    <m:r>
                      <a:rPr lang="en-US" sz="1600" i="1">
                        <a:latin typeface="Cambria Math" panose="02040503050406030204" pitchFamily="18" charset="0"/>
                      </a:rPr>
                      <m:t>𝑐</m:t>
                    </m:r>
                    <m:r>
                      <a:rPr lang="en-US" sz="1600" i="1">
                        <a:latin typeface="Cambria Math" panose="02040503050406030204" pitchFamily="18" charset="0"/>
                      </a:rPr>
                      <m:t>∗ </m:t>
                    </m:r>
                  </m:oMath>
                </a14:m>
                <a:r>
                  <a:rPr lang="en-US" sz="1600" i="1" dirty="0"/>
                  <a:t>(year) + d * </a:t>
                </a:r>
                <a:r>
                  <a:rPr lang="en-US" sz="1600" b="1" i="1" dirty="0"/>
                  <a:t>total U.S. source income</a:t>
                </a:r>
                <a:r>
                  <a:rPr lang="en-US" sz="1600" i="1" dirty="0"/>
                  <a:t>) + e* (recipient type) + f * (after TCJA &amp; foreign </a:t>
                </a:r>
                <a:r>
                  <a:rPr lang="en-US" sz="1600" i="1" dirty="0" err="1"/>
                  <a:t>corp</a:t>
                </a:r>
                <a:r>
                  <a:rPr lang="en-US" sz="1600" i="1" dirty="0"/>
                  <a:t>) + g </a:t>
                </a:r>
              </a:p>
              <a:p>
                <a:endParaRPr lang="en-US" sz="1600" dirty="0"/>
              </a:p>
              <a:p>
                <a:r>
                  <a:rPr lang="en-US" sz="1600" dirty="0"/>
                  <a:t>Share of total interest = </a:t>
                </a:r>
                <a14:m>
                  <m:oMath xmlns:m="http://schemas.openxmlformats.org/officeDocument/2006/math">
                    <m:r>
                      <a:rPr lang="en-US" sz="1600" i="1">
                        <a:latin typeface="Cambria Math" panose="02040503050406030204" pitchFamily="18" charset="0"/>
                      </a:rPr>
                      <m:t>𝑎</m:t>
                    </m:r>
                    <m:r>
                      <a:rPr lang="en-US" sz="1600" i="1">
                        <a:latin typeface="Cambria Math" panose="02040503050406030204" pitchFamily="18" charset="0"/>
                      </a:rPr>
                      <m:t>+</m:t>
                    </m:r>
                    <m:r>
                      <a:rPr lang="en-US" sz="1600" i="1">
                        <a:latin typeface="Cambria Math" panose="02040503050406030204" pitchFamily="18" charset="0"/>
                      </a:rPr>
                      <m:t>𝑏</m:t>
                    </m:r>
                    <m:r>
                      <a:rPr lang="en-US" sz="1600" i="1">
                        <a:latin typeface="Cambria Math" panose="02040503050406030204" pitchFamily="18" charset="0"/>
                      </a:rPr>
                      <m:t>∗ </m:t>
                    </m:r>
                    <m:d>
                      <m:dPr>
                        <m:ctrlPr>
                          <a:rPr lang="en-US" sz="1600" i="1">
                            <a:latin typeface="Cambria Math" panose="02040503050406030204" pitchFamily="18" charset="0"/>
                          </a:rPr>
                        </m:ctrlPr>
                      </m:dPr>
                      <m:e>
                        <m:r>
                          <a:rPr lang="en-US" sz="1600" i="1">
                            <a:latin typeface="Cambria Math" panose="02040503050406030204" pitchFamily="18" charset="0"/>
                          </a:rPr>
                          <m:t>𝑎𝑓𝑡𝑒𝑟</m:t>
                        </m:r>
                        <m:r>
                          <a:rPr lang="en-US" sz="1600" i="1">
                            <a:latin typeface="Cambria Math" panose="02040503050406030204" pitchFamily="18" charset="0"/>
                          </a:rPr>
                          <m:t> </m:t>
                        </m:r>
                        <m:r>
                          <a:rPr lang="en-US" sz="1600" i="1">
                            <a:latin typeface="Cambria Math" panose="02040503050406030204" pitchFamily="18" charset="0"/>
                          </a:rPr>
                          <m:t>𝑇𝐶𝐽𝐴</m:t>
                        </m:r>
                      </m:e>
                    </m:d>
                    <m:r>
                      <a:rPr lang="en-US" sz="1600" i="1">
                        <a:latin typeface="Cambria Math" panose="02040503050406030204" pitchFamily="18" charset="0"/>
                      </a:rPr>
                      <m:t>+</m:t>
                    </m:r>
                    <m:r>
                      <a:rPr lang="en-US" sz="1600" i="1">
                        <a:latin typeface="Cambria Math" panose="02040503050406030204" pitchFamily="18" charset="0"/>
                      </a:rPr>
                      <m:t>𝑐</m:t>
                    </m:r>
                    <m:r>
                      <a:rPr lang="en-US" sz="1600" i="1">
                        <a:latin typeface="Cambria Math" panose="02040503050406030204" pitchFamily="18" charset="0"/>
                      </a:rPr>
                      <m:t>∗ </m:t>
                    </m:r>
                  </m:oMath>
                </a14:m>
                <a:r>
                  <a:rPr lang="en-US" sz="1600" i="1" dirty="0"/>
                  <a:t>(year) + d * (</a:t>
                </a:r>
                <a:r>
                  <a:rPr lang="en-US" sz="1600" b="1" i="1" dirty="0"/>
                  <a:t>share of total U.S. source income</a:t>
                </a:r>
                <a:r>
                  <a:rPr lang="en-US" sz="1600" i="1" dirty="0"/>
                  <a:t>) + e* (recipient type) + f * (after TCJA &amp; foreign </a:t>
                </a:r>
                <a:r>
                  <a:rPr lang="en-US" sz="1600" i="1" dirty="0" err="1"/>
                  <a:t>corp</a:t>
                </a:r>
                <a:r>
                  <a:rPr lang="en-US" sz="1600" i="1" dirty="0"/>
                  <a:t>) + g </a:t>
                </a:r>
              </a:p>
              <a:p>
                <a:endParaRPr lang="en-US" sz="1600" dirty="0"/>
              </a:p>
              <a:p>
                <a:r>
                  <a:rPr lang="en-US" sz="1600" dirty="0"/>
                  <a:t>Share of total interest = </a:t>
                </a:r>
                <a14:m>
                  <m:oMath xmlns:m="http://schemas.openxmlformats.org/officeDocument/2006/math">
                    <m:r>
                      <a:rPr lang="en-US" sz="1600" i="1">
                        <a:latin typeface="Cambria Math" panose="02040503050406030204" pitchFamily="18" charset="0"/>
                      </a:rPr>
                      <m:t>𝑎</m:t>
                    </m:r>
                    <m:r>
                      <a:rPr lang="en-US" sz="1600" i="1">
                        <a:latin typeface="Cambria Math" panose="02040503050406030204" pitchFamily="18" charset="0"/>
                      </a:rPr>
                      <m:t>+</m:t>
                    </m:r>
                    <m:r>
                      <a:rPr lang="en-US" sz="1600" i="1">
                        <a:latin typeface="Cambria Math" panose="02040503050406030204" pitchFamily="18" charset="0"/>
                      </a:rPr>
                      <m:t>𝑏</m:t>
                    </m:r>
                    <m:r>
                      <a:rPr lang="en-US" sz="1600" i="1">
                        <a:latin typeface="Cambria Math" panose="02040503050406030204" pitchFamily="18" charset="0"/>
                      </a:rPr>
                      <m:t>∗ </m:t>
                    </m:r>
                    <m:d>
                      <m:dPr>
                        <m:ctrlPr>
                          <a:rPr lang="en-US" sz="1600" i="1">
                            <a:latin typeface="Cambria Math" panose="02040503050406030204" pitchFamily="18" charset="0"/>
                          </a:rPr>
                        </m:ctrlPr>
                      </m:dPr>
                      <m:e>
                        <m:r>
                          <a:rPr lang="en-US" sz="1600" i="1">
                            <a:latin typeface="Cambria Math" panose="02040503050406030204" pitchFamily="18" charset="0"/>
                          </a:rPr>
                          <m:t>𝑎𝑓𝑡𝑒𝑟</m:t>
                        </m:r>
                        <m:r>
                          <a:rPr lang="en-US" sz="1600" i="1">
                            <a:latin typeface="Cambria Math" panose="02040503050406030204" pitchFamily="18" charset="0"/>
                          </a:rPr>
                          <m:t> </m:t>
                        </m:r>
                        <m:r>
                          <a:rPr lang="en-US" sz="1600" i="1">
                            <a:latin typeface="Cambria Math" panose="02040503050406030204" pitchFamily="18" charset="0"/>
                          </a:rPr>
                          <m:t>𝑇𝐶𝐽𝐴</m:t>
                        </m:r>
                      </m:e>
                    </m:d>
                    <m:r>
                      <a:rPr lang="en-US" sz="1600" i="1">
                        <a:latin typeface="Cambria Math" panose="02040503050406030204" pitchFamily="18" charset="0"/>
                      </a:rPr>
                      <m:t>+</m:t>
                    </m:r>
                    <m:r>
                      <a:rPr lang="en-US" sz="1600" i="1">
                        <a:latin typeface="Cambria Math" panose="02040503050406030204" pitchFamily="18" charset="0"/>
                      </a:rPr>
                      <m:t>𝑐</m:t>
                    </m:r>
                    <m:r>
                      <a:rPr lang="en-US" sz="1600" i="1">
                        <a:latin typeface="Cambria Math" panose="02040503050406030204" pitchFamily="18" charset="0"/>
                      </a:rPr>
                      <m:t>∗ </m:t>
                    </m:r>
                  </m:oMath>
                </a14:m>
                <a:r>
                  <a:rPr lang="en-US" sz="1600" i="1" dirty="0"/>
                  <a:t>(year) + d * (</a:t>
                </a:r>
                <a:r>
                  <a:rPr lang="en-US" sz="1600" b="1" i="1" dirty="0"/>
                  <a:t>share of total U.S. source income other than interest income</a:t>
                </a:r>
                <a:r>
                  <a:rPr lang="en-US" sz="1600" i="1" dirty="0"/>
                  <a:t>) + e* (recipient type) + f * (after TCJA &amp; foreign </a:t>
                </a:r>
                <a:r>
                  <a:rPr lang="en-US" sz="1600" i="1" dirty="0" err="1"/>
                  <a:t>corp</a:t>
                </a:r>
                <a:r>
                  <a:rPr lang="en-US" sz="1600" i="1" dirty="0"/>
                  <a:t>) + g </a:t>
                </a:r>
              </a:p>
              <a:p>
                <a:endParaRPr lang="en-US" sz="1600" dirty="0"/>
              </a:p>
              <a:p>
                <a:r>
                  <a:rPr lang="en-US" sz="1600" dirty="0"/>
                  <a:t>“a” and “g” capture the intercept and residual error, respectively.</a:t>
                </a:r>
              </a:p>
              <a:p>
                <a:endParaRPr lang="en-US" sz="1600" dirty="0"/>
              </a:p>
              <a:p>
                <a:endParaRPr lang="en-US" sz="1600" dirty="0"/>
              </a:p>
              <a:p>
                <a:endParaRPr lang="en-US" sz="1600" dirty="0"/>
              </a:p>
            </p:txBody>
          </p:sp>
        </mc:Choice>
        <mc:Fallback xmlns="">
          <p:sp>
            <p:nvSpPr>
              <p:cNvPr id="12" name="TextBox 11">
                <a:extLst>
                  <a:ext uri="{FF2B5EF4-FFF2-40B4-BE49-F238E27FC236}">
                    <a16:creationId xmlns:a16="http://schemas.microsoft.com/office/drawing/2014/main" id="{4373EA6B-0852-9833-92AE-333B51D68713}"/>
                  </a:ext>
                </a:extLst>
              </p:cNvPr>
              <p:cNvSpPr txBox="1">
                <a:spLocks noRot="1" noChangeAspect="1" noMove="1" noResize="1" noEditPoints="1" noAdjustHandles="1" noChangeArrowheads="1" noChangeShapeType="1" noTextEdit="1"/>
              </p:cNvSpPr>
              <p:nvPr/>
            </p:nvSpPr>
            <p:spPr>
              <a:xfrm>
                <a:off x="738447" y="690276"/>
                <a:ext cx="10715105" cy="5262979"/>
              </a:xfrm>
              <a:prstGeom prst="rect">
                <a:avLst/>
              </a:prstGeom>
              <a:blipFill>
                <a:blip r:embed="rId3"/>
                <a:stretch>
                  <a:fillRect l="-284" r="-341"/>
                </a:stretch>
              </a:blipFill>
            </p:spPr>
            <p:txBody>
              <a:bodyPr/>
              <a:lstStyle/>
              <a:p>
                <a:r>
                  <a:rPr lang="en-US">
                    <a:noFill/>
                  </a:rPr>
                  <a:t> </a:t>
                </a:r>
              </a:p>
            </p:txBody>
          </p:sp>
        </mc:Fallback>
      </mc:AlternateContent>
    </p:spTree>
    <p:extLst>
      <p:ext uri="{BB962C8B-B14F-4D97-AF65-F5344CB8AC3E}">
        <p14:creationId xmlns:p14="http://schemas.microsoft.com/office/powerpoint/2010/main" val="32991032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C5A60-0D1C-F624-ED05-B5164AFE4114}"/>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12C58E72-9E93-BB05-FFED-5E41B4B52552}"/>
              </a:ext>
            </a:extLst>
          </p:cNvPr>
          <p:cNvSpPr txBox="1">
            <a:spLocks/>
          </p:cNvSpPr>
          <p:nvPr/>
        </p:nvSpPr>
        <p:spPr>
          <a:xfrm>
            <a:off x="335121" y="52980"/>
            <a:ext cx="4804146" cy="486442"/>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Interest Income – Hypothesis A Results</a:t>
            </a:r>
            <a:endParaRPr lang="en-US" sz="2400" dirty="0"/>
          </a:p>
        </p:txBody>
      </p:sp>
      <p:sp>
        <p:nvSpPr>
          <p:cNvPr id="80" name="Slide Number Placeholder 79">
            <a:extLst>
              <a:ext uri="{FF2B5EF4-FFF2-40B4-BE49-F238E27FC236}">
                <a16:creationId xmlns:a16="http://schemas.microsoft.com/office/drawing/2014/main" id="{A397460E-7006-6D68-F5A3-C901F4AE3764}"/>
              </a:ext>
            </a:extLst>
          </p:cNvPr>
          <p:cNvSpPr>
            <a:spLocks noGrp="1"/>
          </p:cNvSpPr>
          <p:nvPr>
            <p:ph type="sldNum" sz="quarter" idx="12"/>
          </p:nvPr>
        </p:nvSpPr>
        <p:spPr/>
        <p:txBody>
          <a:bodyPr/>
          <a:lstStyle/>
          <a:p>
            <a:fld id="{ADDA9D34-D8EF-4237-948B-BB7FF2FABC7B}" type="slidenum">
              <a:rPr lang="en-US" smtClean="0"/>
              <a:t>13</a:t>
            </a:fld>
            <a:endParaRPr lang="en-US"/>
          </a:p>
        </p:txBody>
      </p:sp>
      <p:pic>
        <p:nvPicPr>
          <p:cNvPr id="3" name="Picture 2">
            <a:extLst>
              <a:ext uri="{FF2B5EF4-FFF2-40B4-BE49-F238E27FC236}">
                <a16:creationId xmlns:a16="http://schemas.microsoft.com/office/drawing/2014/main" id="{675BB15C-7F8F-AEF6-9F96-2AEB616C8E71}"/>
              </a:ext>
            </a:extLst>
          </p:cNvPr>
          <p:cNvPicPr>
            <a:picLocks noChangeAspect="1"/>
          </p:cNvPicPr>
          <p:nvPr/>
        </p:nvPicPr>
        <p:blipFill>
          <a:blip r:embed="rId3"/>
          <a:stretch>
            <a:fillRect/>
          </a:stretch>
        </p:blipFill>
        <p:spPr>
          <a:xfrm>
            <a:off x="2666939" y="1219531"/>
            <a:ext cx="6858121" cy="4984737"/>
          </a:xfrm>
          <a:prstGeom prst="rect">
            <a:avLst/>
          </a:prstGeom>
        </p:spPr>
      </p:pic>
      <p:sp>
        <p:nvSpPr>
          <p:cNvPr id="2" name="TextBox 1">
            <a:extLst>
              <a:ext uri="{FF2B5EF4-FFF2-40B4-BE49-F238E27FC236}">
                <a16:creationId xmlns:a16="http://schemas.microsoft.com/office/drawing/2014/main" id="{73983B02-0C43-320E-67D4-89C5EDD328C5}"/>
              </a:ext>
            </a:extLst>
          </p:cNvPr>
          <p:cNvSpPr txBox="1"/>
          <p:nvPr/>
        </p:nvSpPr>
        <p:spPr>
          <a:xfrm>
            <a:off x="335120" y="296201"/>
            <a:ext cx="11018679" cy="923330"/>
          </a:xfrm>
          <a:prstGeom prst="rect">
            <a:avLst/>
          </a:prstGeom>
          <a:noFill/>
        </p:spPr>
        <p:txBody>
          <a:bodyPr wrap="square" rtlCol="0">
            <a:spAutoFit/>
          </a:bodyPr>
          <a:lstStyle/>
          <a:p>
            <a:endParaRPr lang="en-US" dirty="0"/>
          </a:p>
          <a:p>
            <a:r>
              <a:rPr lang="en-US" dirty="0"/>
              <a:t>Controlling for total U.S. source income, share of interest paid to foreign corporations (as opposed to other types of entities) decreased significantly after TCJA, </a:t>
            </a:r>
            <a:r>
              <a:rPr lang="en-US" i="1" dirty="0"/>
              <a:t>by seven percent </a:t>
            </a:r>
            <a:r>
              <a:rPr lang="en-US" dirty="0"/>
              <a:t>with statistical significance.</a:t>
            </a:r>
          </a:p>
        </p:txBody>
      </p:sp>
    </p:spTree>
    <p:extLst>
      <p:ext uri="{BB962C8B-B14F-4D97-AF65-F5344CB8AC3E}">
        <p14:creationId xmlns:p14="http://schemas.microsoft.com/office/powerpoint/2010/main" val="1593156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9755D-0152-F0D7-EB02-3E6EFF0ADCE6}"/>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47F0E017-B81D-7FE0-3DBD-BB952F0A8A22}"/>
              </a:ext>
            </a:extLst>
          </p:cNvPr>
          <p:cNvSpPr txBox="1">
            <a:spLocks/>
          </p:cNvSpPr>
          <p:nvPr/>
        </p:nvSpPr>
        <p:spPr>
          <a:xfrm>
            <a:off x="445186" y="317122"/>
            <a:ext cx="5092013" cy="486442"/>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Interest Income – Hypothesis A Results</a:t>
            </a:r>
            <a:endParaRPr lang="en-US" sz="2400" dirty="0"/>
          </a:p>
        </p:txBody>
      </p:sp>
      <p:sp>
        <p:nvSpPr>
          <p:cNvPr id="80" name="Slide Number Placeholder 79">
            <a:extLst>
              <a:ext uri="{FF2B5EF4-FFF2-40B4-BE49-F238E27FC236}">
                <a16:creationId xmlns:a16="http://schemas.microsoft.com/office/drawing/2014/main" id="{68A478FC-E553-B457-CBB1-B0FFB2CB0581}"/>
              </a:ext>
            </a:extLst>
          </p:cNvPr>
          <p:cNvSpPr>
            <a:spLocks noGrp="1"/>
          </p:cNvSpPr>
          <p:nvPr>
            <p:ph type="sldNum" sz="quarter" idx="12"/>
          </p:nvPr>
        </p:nvSpPr>
        <p:spPr/>
        <p:txBody>
          <a:bodyPr/>
          <a:lstStyle/>
          <a:p>
            <a:fld id="{ADDA9D34-D8EF-4237-948B-BB7FF2FABC7B}" type="slidenum">
              <a:rPr lang="en-US" smtClean="0"/>
              <a:t>14</a:t>
            </a:fld>
            <a:endParaRPr lang="en-US"/>
          </a:p>
        </p:txBody>
      </p:sp>
      <p:pic>
        <p:nvPicPr>
          <p:cNvPr id="4" name="Picture 3">
            <a:extLst>
              <a:ext uri="{FF2B5EF4-FFF2-40B4-BE49-F238E27FC236}">
                <a16:creationId xmlns:a16="http://schemas.microsoft.com/office/drawing/2014/main" id="{3E1B1478-7E6F-C4C4-8EF2-238D03FEA4E1}"/>
              </a:ext>
            </a:extLst>
          </p:cNvPr>
          <p:cNvPicPr>
            <a:picLocks noChangeAspect="1"/>
          </p:cNvPicPr>
          <p:nvPr/>
        </p:nvPicPr>
        <p:blipFill>
          <a:blip r:embed="rId3"/>
          <a:stretch>
            <a:fillRect/>
          </a:stretch>
        </p:blipFill>
        <p:spPr>
          <a:xfrm>
            <a:off x="2530291" y="1312593"/>
            <a:ext cx="7131417" cy="5226319"/>
          </a:xfrm>
          <a:prstGeom prst="rect">
            <a:avLst/>
          </a:prstGeom>
        </p:spPr>
      </p:pic>
      <p:sp>
        <p:nvSpPr>
          <p:cNvPr id="2" name="TextBox 1">
            <a:extLst>
              <a:ext uri="{FF2B5EF4-FFF2-40B4-BE49-F238E27FC236}">
                <a16:creationId xmlns:a16="http://schemas.microsoft.com/office/drawing/2014/main" id="{EB2DE088-8FA3-FE94-9C03-14A55BCF298A}"/>
              </a:ext>
            </a:extLst>
          </p:cNvPr>
          <p:cNvSpPr txBox="1"/>
          <p:nvPr/>
        </p:nvSpPr>
        <p:spPr>
          <a:xfrm>
            <a:off x="445187" y="538798"/>
            <a:ext cx="11018679" cy="923330"/>
          </a:xfrm>
          <a:prstGeom prst="rect">
            <a:avLst/>
          </a:prstGeom>
          <a:noFill/>
        </p:spPr>
        <p:txBody>
          <a:bodyPr wrap="square" rtlCol="0">
            <a:spAutoFit/>
          </a:bodyPr>
          <a:lstStyle/>
          <a:p>
            <a:endParaRPr lang="en-US" dirty="0"/>
          </a:p>
          <a:p>
            <a:r>
              <a:rPr lang="en-US" dirty="0"/>
              <a:t>Controlling for share of total U.S. source income, share of interest paid to foreign corporations (as opposed to other types of entities) decreased by 1.4 percent only, with no statistical significance.</a:t>
            </a:r>
          </a:p>
        </p:txBody>
      </p:sp>
    </p:spTree>
    <p:extLst>
      <p:ext uri="{BB962C8B-B14F-4D97-AF65-F5344CB8AC3E}">
        <p14:creationId xmlns:p14="http://schemas.microsoft.com/office/powerpoint/2010/main" val="4053567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F0255-D504-87DE-3FC6-56C6E7A89E14}"/>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5E6E2627-4497-C8B3-F930-7CA1C7B7305F}"/>
              </a:ext>
            </a:extLst>
          </p:cNvPr>
          <p:cNvSpPr txBox="1">
            <a:spLocks/>
          </p:cNvSpPr>
          <p:nvPr/>
        </p:nvSpPr>
        <p:spPr>
          <a:xfrm>
            <a:off x="445187" y="295577"/>
            <a:ext cx="4778746" cy="486442"/>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Interest Income – Hypothesis A Results</a:t>
            </a:r>
            <a:endParaRPr lang="en-US" sz="2400" dirty="0"/>
          </a:p>
        </p:txBody>
      </p:sp>
      <p:sp>
        <p:nvSpPr>
          <p:cNvPr id="80" name="Slide Number Placeholder 79">
            <a:extLst>
              <a:ext uri="{FF2B5EF4-FFF2-40B4-BE49-F238E27FC236}">
                <a16:creationId xmlns:a16="http://schemas.microsoft.com/office/drawing/2014/main" id="{D22AF1C7-4459-8BBB-53D4-ADC3B86C96BB}"/>
              </a:ext>
            </a:extLst>
          </p:cNvPr>
          <p:cNvSpPr>
            <a:spLocks noGrp="1"/>
          </p:cNvSpPr>
          <p:nvPr>
            <p:ph type="sldNum" sz="quarter" idx="12"/>
          </p:nvPr>
        </p:nvSpPr>
        <p:spPr/>
        <p:txBody>
          <a:bodyPr/>
          <a:lstStyle/>
          <a:p>
            <a:fld id="{ADDA9D34-D8EF-4237-948B-BB7FF2FABC7B}" type="slidenum">
              <a:rPr lang="en-US" smtClean="0"/>
              <a:t>15</a:t>
            </a:fld>
            <a:endParaRPr lang="en-US"/>
          </a:p>
        </p:txBody>
      </p:sp>
      <p:sp>
        <p:nvSpPr>
          <p:cNvPr id="2" name="TextBox 1">
            <a:extLst>
              <a:ext uri="{FF2B5EF4-FFF2-40B4-BE49-F238E27FC236}">
                <a16:creationId xmlns:a16="http://schemas.microsoft.com/office/drawing/2014/main" id="{6D678141-ECB4-64B9-9E51-AB4150E311B3}"/>
              </a:ext>
            </a:extLst>
          </p:cNvPr>
          <p:cNvSpPr txBox="1"/>
          <p:nvPr/>
        </p:nvSpPr>
        <p:spPr>
          <a:xfrm>
            <a:off x="445187" y="538798"/>
            <a:ext cx="11018679" cy="923330"/>
          </a:xfrm>
          <a:prstGeom prst="rect">
            <a:avLst/>
          </a:prstGeom>
          <a:noFill/>
        </p:spPr>
        <p:txBody>
          <a:bodyPr wrap="square" rtlCol="0">
            <a:spAutoFit/>
          </a:bodyPr>
          <a:lstStyle/>
          <a:p>
            <a:endParaRPr lang="en-US" dirty="0"/>
          </a:p>
          <a:p>
            <a:r>
              <a:rPr lang="en-US" dirty="0"/>
              <a:t>Controlling for share of total non interest income, share of interest paid to foreign corporations (as opposed to other types of entities) decreased by 0.9% only, with no statistical significance.</a:t>
            </a:r>
          </a:p>
        </p:txBody>
      </p:sp>
      <p:pic>
        <p:nvPicPr>
          <p:cNvPr id="5" name="Picture 4">
            <a:extLst>
              <a:ext uri="{FF2B5EF4-FFF2-40B4-BE49-F238E27FC236}">
                <a16:creationId xmlns:a16="http://schemas.microsoft.com/office/drawing/2014/main" id="{3F18D70A-4AC8-65DD-2083-7F3DC15876F1}"/>
              </a:ext>
            </a:extLst>
          </p:cNvPr>
          <p:cNvPicPr>
            <a:picLocks noChangeAspect="1"/>
          </p:cNvPicPr>
          <p:nvPr/>
        </p:nvPicPr>
        <p:blipFill>
          <a:blip r:embed="rId3"/>
          <a:stretch>
            <a:fillRect/>
          </a:stretch>
        </p:blipFill>
        <p:spPr>
          <a:xfrm>
            <a:off x="3371709" y="1454048"/>
            <a:ext cx="6601751" cy="4785885"/>
          </a:xfrm>
          <a:prstGeom prst="rect">
            <a:avLst/>
          </a:prstGeom>
        </p:spPr>
      </p:pic>
    </p:spTree>
    <p:extLst>
      <p:ext uri="{BB962C8B-B14F-4D97-AF65-F5344CB8AC3E}">
        <p14:creationId xmlns:p14="http://schemas.microsoft.com/office/powerpoint/2010/main" val="2264722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98805-9626-4C0C-EE40-D29C862D1C8C}"/>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5B039664-CAD3-DDA9-EE3C-560E03AEB57E}"/>
              </a:ext>
            </a:extLst>
          </p:cNvPr>
          <p:cNvSpPr txBox="1">
            <a:spLocks/>
          </p:cNvSpPr>
          <p:nvPr/>
        </p:nvSpPr>
        <p:spPr>
          <a:xfrm>
            <a:off x="445187" y="0"/>
            <a:ext cx="10885016" cy="10181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Hypothesis B Cayman receives most of the U.S. source interest payments</a:t>
            </a:r>
            <a:endParaRPr lang="en-US" sz="2400" dirty="0"/>
          </a:p>
        </p:txBody>
      </p:sp>
      <p:sp>
        <p:nvSpPr>
          <p:cNvPr id="80" name="Slide Number Placeholder 79">
            <a:extLst>
              <a:ext uri="{FF2B5EF4-FFF2-40B4-BE49-F238E27FC236}">
                <a16:creationId xmlns:a16="http://schemas.microsoft.com/office/drawing/2014/main" id="{F006F808-A86D-3804-400C-229474989230}"/>
              </a:ext>
            </a:extLst>
          </p:cNvPr>
          <p:cNvSpPr>
            <a:spLocks noGrp="1"/>
          </p:cNvSpPr>
          <p:nvPr>
            <p:ph type="sldNum" sz="quarter" idx="12"/>
          </p:nvPr>
        </p:nvSpPr>
        <p:spPr/>
        <p:txBody>
          <a:bodyPr/>
          <a:lstStyle/>
          <a:p>
            <a:fld id="{ADDA9D34-D8EF-4237-948B-BB7FF2FABC7B}" type="slidenum">
              <a:rPr lang="en-US" smtClean="0"/>
              <a:t>16</a:t>
            </a:fld>
            <a:endParaRPr lang="en-US"/>
          </a:p>
        </p:txBody>
      </p:sp>
      <p:pic>
        <p:nvPicPr>
          <p:cNvPr id="2" name="Picture 1" descr="A graph of a graph showing the growth of the company's growth&#10;&#10;AI-generated content may be incorrect.">
            <a:extLst>
              <a:ext uri="{FF2B5EF4-FFF2-40B4-BE49-F238E27FC236}">
                <a16:creationId xmlns:a16="http://schemas.microsoft.com/office/drawing/2014/main" id="{8273339A-541F-1BC4-27F0-8DFDD7E813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0085" y="1180375"/>
            <a:ext cx="9525000" cy="5359400"/>
          </a:xfrm>
          <a:prstGeom prst="rect">
            <a:avLst/>
          </a:prstGeom>
        </p:spPr>
      </p:pic>
    </p:spTree>
    <p:extLst>
      <p:ext uri="{BB962C8B-B14F-4D97-AF65-F5344CB8AC3E}">
        <p14:creationId xmlns:p14="http://schemas.microsoft.com/office/powerpoint/2010/main" val="6250538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42DDD-792B-13DD-2D7F-F0F7F3FBDD9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C2638B2D-1C9A-CEE3-C4A5-81581F9E60A5}"/>
              </a:ext>
            </a:extLst>
          </p:cNvPr>
          <p:cNvSpPr txBox="1">
            <a:spLocks/>
          </p:cNvSpPr>
          <p:nvPr/>
        </p:nvSpPr>
        <p:spPr>
          <a:xfrm>
            <a:off x="445187" y="0"/>
            <a:ext cx="10885016" cy="10181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Hypothesis B Cayman receives most of the U.S. source interest payments</a:t>
            </a:r>
            <a:endParaRPr lang="en-US" sz="2400" dirty="0"/>
          </a:p>
        </p:txBody>
      </p:sp>
      <p:sp>
        <p:nvSpPr>
          <p:cNvPr id="80" name="Slide Number Placeholder 79">
            <a:extLst>
              <a:ext uri="{FF2B5EF4-FFF2-40B4-BE49-F238E27FC236}">
                <a16:creationId xmlns:a16="http://schemas.microsoft.com/office/drawing/2014/main" id="{F716E322-3088-1CDD-BD4D-1014A42E4F50}"/>
              </a:ext>
            </a:extLst>
          </p:cNvPr>
          <p:cNvSpPr>
            <a:spLocks noGrp="1"/>
          </p:cNvSpPr>
          <p:nvPr>
            <p:ph type="sldNum" sz="quarter" idx="12"/>
          </p:nvPr>
        </p:nvSpPr>
        <p:spPr/>
        <p:txBody>
          <a:bodyPr/>
          <a:lstStyle/>
          <a:p>
            <a:fld id="{ADDA9D34-D8EF-4237-948B-BB7FF2FABC7B}" type="slidenum">
              <a:rPr lang="en-US" smtClean="0"/>
              <a:t>17</a:t>
            </a:fld>
            <a:endParaRPr lang="en-US"/>
          </a:p>
        </p:txBody>
      </p:sp>
      <p:pic>
        <p:nvPicPr>
          <p:cNvPr id="3" name="Picture 2" descr="A graph of the different countries/regions&#10;&#10;AI-generated content may be incorrect.">
            <a:extLst>
              <a:ext uri="{FF2B5EF4-FFF2-40B4-BE49-F238E27FC236}">
                <a16:creationId xmlns:a16="http://schemas.microsoft.com/office/drawing/2014/main" id="{B34EFDF6-F04C-9305-14A3-CF541964E4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6595" y="1207045"/>
            <a:ext cx="6845300" cy="4940300"/>
          </a:xfrm>
          <a:prstGeom prst="rect">
            <a:avLst/>
          </a:prstGeom>
        </p:spPr>
      </p:pic>
    </p:spTree>
    <p:extLst>
      <p:ext uri="{BB962C8B-B14F-4D97-AF65-F5344CB8AC3E}">
        <p14:creationId xmlns:p14="http://schemas.microsoft.com/office/powerpoint/2010/main" val="40556516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331B0-44C2-2C3E-B840-4DD2F28B5D5A}"/>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CF61682F-3CA3-4FA8-0339-99690BE9E1AA}"/>
              </a:ext>
            </a:extLst>
          </p:cNvPr>
          <p:cNvSpPr txBox="1">
            <a:spLocks/>
          </p:cNvSpPr>
          <p:nvPr/>
        </p:nvSpPr>
        <p:spPr>
          <a:xfrm>
            <a:off x="445187" y="0"/>
            <a:ext cx="10885016" cy="10181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Hypothesis B Cayman receives the largest share of total U.S. payments</a:t>
            </a:r>
            <a:endParaRPr lang="en-US" sz="2400" dirty="0"/>
          </a:p>
        </p:txBody>
      </p:sp>
      <p:sp>
        <p:nvSpPr>
          <p:cNvPr id="80" name="Slide Number Placeholder 79">
            <a:extLst>
              <a:ext uri="{FF2B5EF4-FFF2-40B4-BE49-F238E27FC236}">
                <a16:creationId xmlns:a16="http://schemas.microsoft.com/office/drawing/2014/main" id="{D427EE95-5211-9F67-1728-41E52409257E}"/>
              </a:ext>
            </a:extLst>
          </p:cNvPr>
          <p:cNvSpPr>
            <a:spLocks noGrp="1"/>
          </p:cNvSpPr>
          <p:nvPr>
            <p:ph type="sldNum" sz="quarter" idx="12"/>
          </p:nvPr>
        </p:nvSpPr>
        <p:spPr/>
        <p:txBody>
          <a:bodyPr/>
          <a:lstStyle/>
          <a:p>
            <a:fld id="{ADDA9D34-D8EF-4237-948B-BB7FF2FABC7B}" type="slidenum">
              <a:rPr lang="en-US" smtClean="0"/>
              <a:t>18</a:t>
            </a:fld>
            <a:endParaRPr lang="en-US"/>
          </a:p>
        </p:txBody>
      </p:sp>
      <p:pic>
        <p:nvPicPr>
          <p:cNvPr id="2" name="Picture 1" descr="A graph of a financial income&#10;&#10;AI-generated content may be incorrect.">
            <a:extLst>
              <a:ext uri="{FF2B5EF4-FFF2-40B4-BE49-F238E27FC236}">
                <a16:creationId xmlns:a16="http://schemas.microsoft.com/office/drawing/2014/main" id="{06FD07F4-FE2D-9603-03E0-481A24B8A6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1003300"/>
            <a:ext cx="9525000" cy="5854700"/>
          </a:xfrm>
          <a:prstGeom prst="rect">
            <a:avLst/>
          </a:prstGeom>
        </p:spPr>
      </p:pic>
    </p:spTree>
    <p:extLst>
      <p:ext uri="{BB962C8B-B14F-4D97-AF65-F5344CB8AC3E}">
        <p14:creationId xmlns:p14="http://schemas.microsoft.com/office/powerpoint/2010/main" val="3224693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6EB2B-F179-4A26-2815-746FD0F826A3}"/>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FB2D62D0-B775-F613-7B5B-D7AACC35796C}"/>
              </a:ext>
            </a:extLst>
          </p:cNvPr>
          <p:cNvSpPr txBox="1">
            <a:spLocks/>
          </p:cNvSpPr>
          <p:nvPr/>
        </p:nvSpPr>
        <p:spPr>
          <a:xfrm>
            <a:off x="445187" y="0"/>
            <a:ext cx="10885016" cy="10181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Hypothesis B Cayman receives the largest share of total U.S. payments</a:t>
            </a:r>
            <a:endParaRPr lang="en-US" sz="2400" dirty="0"/>
          </a:p>
        </p:txBody>
      </p:sp>
      <p:sp>
        <p:nvSpPr>
          <p:cNvPr id="80" name="Slide Number Placeholder 79">
            <a:extLst>
              <a:ext uri="{FF2B5EF4-FFF2-40B4-BE49-F238E27FC236}">
                <a16:creationId xmlns:a16="http://schemas.microsoft.com/office/drawing/2014/main" id="{0BEDB864-8379-3384-2618-BF6348D74D02}"/>
              </a:ext>
            </a:extLst>
          </p:cNvPr>
          <p:cNvSpPr>
            <a:spLocks noGrp="1"/>
          </p:cNvSpPr>
          <p:nvPr>
            <p:ph type="sldNum" sz="quarter" idx="12"/>
          </p:nvPr>
        </p:nvSpPr>
        <p:spPr/>
        <p:txBody>
          <a:bodyPr/>
          <a:lstStyle/>
          <a:p>
            <a:fld id="{ADDA9D34-D8EF-4237-948B-BB7FF2FABC7B}" type="slidenum">
              <a:rPr lang="en-US" smtClean="0"/>
              <a:t>19</a:t>
            </a:fld>
            <a:endParaRPr lang="en-US"/>
          </a:p>
        </p:txBody>
      </p:sp>
      <p:pic>
        <p:nvPicPr>
          <p:cNvPr id="3" name="Picture 2" descr="A graph of a financial graph&#10;&#10;AI-generated content may be incorrect.">
            <a:extLst>
              <a:ext uri="{FF2B5EF4-FFF2-40B4-BE49-F238E27FC236}">
                <a16:creationId xmlns:a16="http://schemas.microsoft.com/office/drawing/2014/main" id="{19D9A486-520F-ABA5-2A92-EB974B2F21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3500" y="1003300"/>
            <a:ext cx="9525000" cy="5854700"/>
          </a:xfrm>
          <a:prstGeom prst="rect">
            <a:avLst/>
          </a:prstGeom>
        </p:spPr>
      </p:pic>
    </p:spTree>
    <p:extLst>
      <p:ext uri="{BB962C8B-B14F-4D97-AF65-F5344CB8AC3E}">
        <p14:creationId xmlns:p14="http://schemas.microsoft.com/office/powerpoint/2010/main" val="246038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604D5-00C0-15C3-9E79-9BAA1ED01429}"/>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508EC8F5-1804-C02B-DDCD-8772525B3F0B}"/>
              </a:ext>
            </a:extLst>
          </p:cNvPr>
          <p:cNvSpPr txBox="1">
            <a:spLocks/>
          </p:cNvSpPr>
          <p:nvPr/>
        </p:nvSpPr>
        <p:spPr>
          <a:xfrm>
            <a:off x="445187" y="317122"/>
            <a:ext cx="5515346"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Interest Income – Hypothesis B Results</a:t>
            </a:r>
            <a:endParaRPr lang="en-US" sz="2400" dirty="0"/>
          </a:p>
        </p:txBody>
      </p:sp>
      <p:sp>
        <p:nvSpPr>
          <p:cNvPr id="80" name="Slide Number Placeholder 79">
            <a:extLst>
              <a:ext uri="{FF2B5EF4-FFF2-40B4-BE49-F238E27FC236}">
                <a16:creationId xmlns:a16="http://schemas.microsoft.com/office/drawing/2014/main" id="{34A34F6A-39DB-417B-5E64-2130A57ACD85}"/>
              </a:ext>
            </a:extLst>
          </p:cNvPr>
          <p:cNvSpPr>
            <a:spLocks noGrp="1"/>
          </p:cNvSpPr>
          <p:nvPr>
            <p:ph type="sldNum" sz="quarter" idx="12"/>
          </p:nvPr>
        </p:nvSpPr>
        <p:spPr/>
        <p:txBody>
          <a:bodyPr/>
          <a:lstStyle/>
          <a:p>
            <a:fld id="{ADDA9D34-D8EF-4237-948B-BB7FF2FABC7B}" type="slidenum">
              <a:rPr lang="en-US" smtClean="0"/>
              <a:t>20</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E3C0AF2-67C5-32E7-0A17-2C0A8C406628}"/>
                  </a:ext>
                </a:extLst>
              </p:cNvPr>
              <p:cNvSpPr txBox="1"/>
              <p:nvPr/>
            </p:nvSpPr>
            <p:spPr>
              <a:xfrm>
                <a:off x="734307" y="1064190"/>
                <a:ext cx="10247202" cy="3416320"/>
              </a:xfrm>
              <a:prstGeom prst="rect">
                <a:avLst/>
              </a:prstGeom>
              <a:noFill/>
            </p:spPr>
            <p:txBody>
              <a:bodyPr wrap="square" rtlCol="0">
                <a:spAutoFit/>
              </a:bodyPr>
              <a:lstStyle/>
              <a:p>
                <a:r>
                  <a:rPr lang="en-US" dirty="0"/>
                  <a:t>We use </a:t>
                </a:r>
                <a:r>
                  <a:rPr lang="en-US" dirty="0" err="1"/>
                  <a:t>DiD</a:t>
                </a:r>
                <a:r>
                  <a:rPr lang="en-US" dirty="0"/>
                  <a:t> to examine how total interest income paid to Cayman changed after TCJA, as compared to how total interest income paid to other countries changed after TCJA.</a:t>
                </a:r>
              </a:p>
              <a:p>
                <a:endParaRPr lang="en-US" dirty="0"/>
              </a:p>
              <a:p>
                <a:r>
                  <a:rPr lang="en-US" dirty="0"/>
                  <a:t>Total interest income =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𝑎𝑓𝑡𝑒𝑟</m:t>
                        </m:r>
                        <m:r>
                          <a:rPr lang="en-US" i="1">
                            <a:latin typeface="Cambria Math" panose="02040503050406030204" pitchFamily="18" charset="0"/>
                          </a:rPr>
                          <m:t> </m:t>
                        </m:r>
                        <m:r>
                          <a:rPr lang="en-US" i="1">
                            <a:latin typeface="Cambria Math" panose="02040503050406030204" pitchFamily="18" charset="0"/>
                          </a:rPr>
                          <m:t>𝑇𝐶𝐽𝐴</m:t>
                        </m:r>
                      </m:e>
                    </m:d>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 </m:t>
                    </m:r>
                  </m:oMath>
                </a14:m>
                <a:r>
                  <a:rPr lang="en-US" i="1" dirty="0"/>
                  <a:t>(year) + d * (total U.S. source income) + e* (country) + f * (after TCJA &amp; Cayman) + g </a:t>
                </a:r>
              </a:p>
              <a:p>
                <a:endParaRPr lang="en-US" i="1" dirty="0"/>
              </a:p>
              <a:p>
                <a:r>
                  <a:rPr lang="en-US" dirty="0"/>
                  <a:t>Where “a” is the intercept and “g” is the residual</a:t>
                </a:r>
              </a:p>
              <a:p>
                <a:endParaRPr lang="en-US" dirty="0"/>
              </a:p>
              <a:p>
                <a:r>
                  <a:rPr lang="en-US" dirty="0"/>
                  <a:t>This determines how total interest paid to Cayman changed after the TCJA (or the coefficient “f”) in comparison to other countries.  We control for variables (after TCJA, year, total U.S. source income, country) that could affect interest paid to Cayman other than through TCJA.</a:t>
                </a:r>
              </a:p>
              <a:p>
                <a:endParaRPr lang="en-US" dirty="0"/>
              </a:p>
            </p:txBody>
          </p:sp>
        </mc:Choice>
        <mc:Fallback xmlns="">
          <p:sp>
            <p:nvSpPr>
              <p:cNvPr id="12" name="TextBox 11">
                <a:extLst>
                  <a:ext uri="{FF2B5EF4-FFF2-40B4-BE49-F238E27FC236}">
                    <a16:creationId xmlns:a16="http://schemas.microsoft.com/office/drawing/2014/main" id="{FE3C0AF2-67C5-32E7-0A17-2C0A8C406628}"/>
                  </a:ext>
                </a:extLst>
              </p:cNvPr>
              <p:cNvSpPr txBox="1">
                <a:spLocks noRot="1" noChangeAspect="1" noMove="1" noResize="1" noEditPoints="1" noAdjustHandles="1" noChangeArrowheads="1" noChangeShapeType="1" noTextEdit="1"/>
              </p:cNvSpPr>
              <p:nvPr/>
            </p:nvSpPr>
            <p:spPr>
              <a:xfrm>
                <a:off x="734307" y="1064190"/>
                <a:ext cx="10247202" cy="3416320"/>
              </a:xfrm>
              <a:prstGeom prst="rect">
                <a:avLst/>
              </a:prstGeom>
              <a:blipFill>
                <a:blip r:embed="rId3"/>
                <a:stretch>
                  <a:fillRect l="-476" t="-893" r="-119"/>
                </a:stretch>
              </a:blipFill>
            </p:spPr>
            <p:txBody>
              <a:bodyPr/>
              <a:lstStyle/>
              <a:p>
                <a:r>
                  <a:rPr lang="en-US">
                    <a:noFill/>
                  </a:rPr>
                  <a:t> </a:t>
                </a:r>
              </a:p>
            </p:txBody>
          </p:sp>
        </mc:Fallback>
      </mc:AlternateContent>
    </p:spTree>
    <p:extLst>
      <p:ext uri="{BB962C8B-B14F-4D97-AF65-F5344CB8AC3E}">
        <p14:creationId xmlns:p14="http://schemas.microsoft.com/office/powerpoint/2010/main" val="20767758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41BD2-690E-2D52-B432-F2E6E9A0347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8CC56B99-DE10-77CD-CFB2-F35D025173B6}"/>
              </a:ext>
            </a:extLst>
          </p:cNvPr>
          <p:cNvSpPr txBox="1">
            <a:spLocks/>
          </p:cNvSpPr>
          <p:nvPr/>
        </p:nvSpPr>
        <p:spPr>
          <a:xfrm>
            <a:off x="445186" y="317122"/>
            <a:ext cx="5168213" cy="486442"/>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Interest Income – Hypothesis B Results</a:t>
            </a:r>
            <a:endParaRPr lang="en-US" sz="2400" dirty="0"/>
          </a:p>
        </p:txBody>
      </p:sp>
      <p:sp>
        <p:nvSpPr>
          <p:cNvPr id="80" name="Slide Number Placeholder 79">
            <a:extLst>
              <a:ext uri="{FF2B5EF4-FFF2-40B4-BE49-F238E27FC236}">
                <a16:creationId xmlns:a16="http://schemas.microsoft.com/office/drawing/2014/main" id="{E18FCA88-79E4-448D-B5FE-9879F559B92A}"/>
              </a:ext>
            </a:extLst>
          </p:cNvPr>
          <p:cNvSpPr>
            <a:spLocks noGrp="1"/>
          </p:cNvSpPr>
          <p:nvPr>
            <p:ph type="sldNum" sz="quarter" idx="12"/>
          </p:nvPr>
        </p:nvSpPr>
        <p:spPr/>
        <p:txBody>
          <a:bodyPr/>
          <a:lstStyle/>
          <a:p>
            <a:fld id="{ADDA9D34-D8EF-4237-948B-BB7FF2FABC7B}" type="slidenum">
              <a:rPr lang="en-US" smtClean="0"/>
              <a:t>21</a:t>
            </a:fld>
            <a:endParaRPr lang="en-US"/>
          </a:p>
        </p:txBody>
      </p:sp>
      <p:sp>
        <p:nvSpPr>
          <p:cNvPr id="12" name="TextBox 11">
            <a:extLst>
              <a:ext uri="{FF2B5EF4-FFF2-40B4-BE49-F238E27FC236}">
                <a16:creationId xmlns:a16="http://schemas.microsoft.com/office/drawing/2014/main" id="{F117453C-32EC-D63C-FEFE-3D170F65AA91}"/>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290761D5-D68B-F71C-54B1-0DD4F88C26A6}"/>
              </a:ext>
            </a:extLst>
          </p:cNvPr>
          <p:cNvSpPr txBox="1"/>
          <p:nvPr/>
        </p:nvSpPr>
        <p:spPr>
          <a:xfrm>
            <a:off x="772974" y="950980"/>
            <a:ext cx="10251032" cy="1200329"/>
          </a:xfrm>
          <a:prstGeom prst="rect">
            <a:avLst/>
          </a:prstGeom>
          <a:noFill/>
        </p:spPr>
        <p:txBody>
          <a:bodyPr wrap="square">
            <a:spAutoFit/>
          </a:bodyPr>
          <a:lstStyle/>
          <a:p>
            <a:r>
              <a:rPr lang="en-US" dirty="0"/>
              <a:t>Using country data, interest income to Cayman entities increased after TCJA with statistical significance.  However:</a:t>
            </a:r>
          </a:p>
          <a:p>
            <a:pPr marL="742950" lvl="1" indent="-285750">
              <a:buFont typeface="Arial" panose="020B0604020202020204" pitchFamily="34" charset="0"/>
              <a:buChar char="•"/>
            </a:pPr>
            <a:r>
              <a:rPr lang="en-US" dirty="0"/>
              <a:t>Entities may include both corporations and partnerships, which would not say anything about the hypothesis that Cayman corporations would receive lesser amounts of interest income</a:t>
            </a:r>
          </a:p>
        </p:txBody>
      </p:sp>
      <p:pic>
        <p:nvPicPr>
          <p:cNvPr id="3" name="Picture 2">
            <a:extLst>
              <a:ext uri="{FF2B5EF4-FFF2-40B4-BE49-F238E27FC236}">
                <a16:creationId xmlns:a16="http://schemas.microsoft.com/office/drawing/2014/main" id="{4826F11D-99B8-BC4D-C6D9-EC18F8DFB776}"/>
              </a:ext>
            </a:extLst>
          </p:cNvPr>
          <p:cNvPicPr>
            <a:picLocks noChangeAspect="1"/>
          </p:cNvPicPr>
          <p:nvPr/>
        </p:nvPicPr>
        <p:blipFill>
          <a:blip r:embed="rId3"/>
          <a:stretch>
            <a:fillRect/>
          </a:stretch>
        </p:blipFill>
        <p:spPr>
          <a:xfrm>
            <a:off x="3512050" y="2379846"/>
            <a:ext cx="4979068" cy="4024964"/>
          </a:xfrm>
          <a:prstGeom prst="rect">
            <a:avLst/>
          </a:prstGeom>
        </p:spPr>
      </p:pic>
    </p:spTree>
    <p:extLst>
      <p:ext uri="{BB962C8B-B14F-4D97-AF65-F5344CB8AC3E}">
        <p14:creationId xmlns:p14="http://schemas.microsoft.com/office/powerpoint/2010/main" val="12619734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42C26-19B3-0544-8643-7826619E6E88}"/>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AB784B27-AF19-4C91-601A-69AEF0723726}"/>
              </a:ext>
            </a:extLst>
          </p:cNvPr>
          <p:cNvSpPr txBox="1">
            <a:spLocks/>
          </p:cNvSpPr>
          <p:nvPr/>
        </p:nvSpPr>
        <p:spPr>
          <a:xfrm>
            <a:off x="445186" y="317122"/>
            <a:ext cx="5346013"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Interest Income – Hypothesis B Results</a:t>
            </a:r>
            <a:endParaRPr lang="en-US" sz="2400" dirty="0"/>
          </a:p>
        </p:txBody>
      </p:sp>
      <p:sp>
        <p:nvSpPr>
          <p:cNvPr id="80" name="Slide Number Placeholder 79">
            <a:extLst>
              <a:ext uri="{FF2B5EF4-FFF2-40B4-BE49-F238E27FC236}">
                <a16:creationId xmlns:a16="http://schemas.microsoft.com/office/drawing/2014/main" id="{58BE6744-C5E1-62E3-0B12-11AAFD422A1D}"/>
              </a:ext>
            </a:extLst>
          </p:cNvPr>
          <p:cNvSpPr>
            <a:spLocks noGrp="1"/>
          </p:cNvSpPr>
          <p:nvPr>
            <p:ph type="sldNum" sz="quarter" idx="12"/>
          </p:nvPr>
        </p:nvSpPr>
        <p:spPr/>
        <p:txBody>
          <a:bodyPr/>
          <a:lstStyle/>
          <a:p>
            <a:fld id="{ADDA9D34-D8EF-4237-948B-BB7FF2FABC7B}" type="slidenum">
              <a:rPr lang="en-US" smtClean="0"/>
              <a:t>22</a:t>
            </a:fld>
            <a:endParaRPr lang="en-US"/>
          </a:p>
        </p:txBody>
      </p:sp>
      <p:sp>
        <p:nvSpPr>
          <p:cNvPr id="12" name="TextBox 11">
            <a:extLst>
              <a:ext uri="{FF2B5EF4-FFF2-40B4-BE49-F238E27FC236}">
                <a16:creationId xmlns:a16="http://schemas.microsoft.com/office/drawing/2014/main" id="{9EAA37D8-0DEB-9C34-0DE9-2589683DB6DF}"/>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E9C0EF7F-7560-52DB-90B6-A0FF7023044F}"/>
              </a:ext>
            </a:extLst>
          </p:cNvPr>
          <p:cNvSpPr txBox="1"/>
          <p:nvPr/>
        </p:nvSpPr>
        <p:spPr>
          <a:xfrm>
            <a:off x="174338" y="734710"/>
            <a:ext cx="11244688" cy="1015663"/>
          </a:xfrm>
          <a:prstGeom prst="rect">
            <a:avLst/>
          </a:prstGeom>
          <a:noFill/>
        </p:spPr>
        <p:txBody>
          <a:bodyPr wrap="square">
            <a:spAutoFit/>
          </a:bodyPr>
          <a:lstStyle/>
          <a:p>
            <a:pPr lvl="1"/>
            <a:r>
              <a:rPr lang="en-US" sz="1200" dirty="0"/>
              <a:t>Using country data, statistical significance disappeared when the regression used </a:t>
            </a:r>
            <a:r>
              <a:rPr lang="en-US" sz="1200" i="1" dirty="0"/>
              <a:t>log</a:t>
            </a:r>
            <a:r>
              <a:rPr lang="en-US" sz="1200" dirty="0"/>
              <a:t> measures instead.  Log measures percentage changes rather than absolute changes.  So, because Cayman receives a disproportionately large amount of interest income as compared to other countries, absolute changes would be larger for Cayman.  To be able to see a jump in relative changes, using log may be a more targeted approach.</a:t>
            </a:r>
          </a:p>
          <a:p>
            <a:endParaRPr lang="en-US" sz="1200" dirty="0"/>
          </a:p>
          <a:p>
            <a:pPr marL="285750" indent="-285750">
              <a:buFont typeface="Arial" panose="020B0604020202020204" pitchFamily="34" charset="0"/>
              <a:buChar char="•"/>
            </a:pPr>
            <a:endParaRPr lang="en-US" sz="1200" dirty="0"/>
          </a:p>
        </p:txBody>
      </p:sp>
      <p:pic>
        <p:nvPicPr>
          <p:cNvPr id="4" name="Picture 3">
            <a:extLst>
              <a:ext uri="{FF2B5EF4-FFF2-40B4-BE49-F238E27FC236}">
                <a16:creationId xmlns:a16="http://schemas.microsoft.com/office/drawing/2014/main" id="{95C68509-7C26-CAF2-24A8-374B2684B6EF}"/>
              </a:ext>
            </a:extLst>
          </p:cNvPr>
          <p:cNvPicPr>
            <a:picLocks noChangeAspect="1"/>
          </p:cNvPicPr>
          <p:nvPr/>
        </p:nvPicPr>
        <p:blipFill>
          <a:blip r:embed="rId3"/>
          <a:stretch>
            <a:fillRect/>
          </a:stretch>
        </p:blipFill>
        <p:spPr>
          <a:xfrm>
            <a:off x="2777954" y="1415796"/>
            <a:ext cx="6636091" cy="4940554"/>
          </a:xfrm>
          <a:prstGeom prst="rect">
            <a:avLst/>
          </a:prstGeom>
        </p:spPr>
      </p:pic>
    </p:spTree>
    <p:extLst>
      <p:ext uri="{BB962C8B-B14F-4D97-AF65-F5344CB8AC3E}">
        <p14:creationId xmlns:p14="http://schemas.microsoft.com/office/powerpoint/2010/main" val="2491188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0B843-8EE0-3F34-6ED8-3F27E913375E}"/>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8330AFE4-FF9F-2E5D-AEB8-B7FEE577C005}"/>
              </a:ext>
            </a:extLst>
          </p:cNvPr>
          <p:cNvSpPr txBox="1">
            <a:spLocks/>
          </p:cNvSpPr>
          <p:nvPr/>
        </p:nvSpPr>
        <p:spPr>
          <a:xfrm>
            <a:off x="396026" y="206618"/>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Forms 1042-S Results</a:t>
            </a:r>
            <a:endParaRPr lang="en-US" sz="2400" dirty="0"/>
          </a:p>
        </p:txBody>
      </p:sp>
      <p:sp>
        <p:nvSpPr>
          <p:cNvPr id="80" name="Slide Number Placeholder 79">
            <a:extLst>
              <a:ext uri="{FF2B5EF4-FFF2-40B4-BE49-F238E27FC236}">
                <a16:creationId xmlns:a16="http://schemas.microsoft.com/office/drawing/2014/main" id="{8788B9D4-3925-C652-030E-0B830DCA8267}"/>
              </a:ext>
            </a:extLst>
          </p:cNvPr>
          <p:cNvSpPr>
            <a:spLocks noGrp="1"/>
          </p:cNvSpPr>
          <p:nvPr>
            <p:ph type="sldNum" sz="quarter" idx="12"/>
          </p:nvPr>
        </p:nvSpPr>
        <p:spPr/>
        <p:txBody>
          <a:bodyPr/>
          <a:lstStyle/>
          <a:p>
            <a:fld id="{ADDA9D34-D8EF-4237-948B-BB7FF2FABC7B}" type="slidenum">
              <a:rPr lang="en-US" smtClean="0"/>
              <a:t>23</a:t>
            </a:fld>
            <a:endParaRPr lang="en-US"/>
          </a:p>
        </p:txBody>
      </p:sp>
      <p:sp>
        <p:nvSpPr>
          <p:cNvPr id="12" name="TextBox 11">
            <a:extLst>
              <a:ext uri="{FF2B5EF4-FFF2-40B4-BE49-F238E27FC236}">
                <a16:creationId xmlns:a16="http://schemas.microsoft.com/office/drawing/2014/main" id="{01C24F05-9196-4663-930B-B4B04A8A74A3}"/>
              </a:ext>
            </a:extLst>
          </p:cNvPr>
          <p:cNvSpPr txBox="1"/>
          <p:nvPr/>
        </p:nvSpPr>
        <p:spPr>
          <a:xfrm>
            <a:off x="910957"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9743D17-9168-47BD-F3E3-FB89A89CA23C}"/>
                  </a:ext>
                </a:extLst>
              </p:cNvPr>
              <p:cNvSpPr txBox="1"/>
              <p:nvPr/>
            </p:nvSpPr>
            <p:spPr>
              <a:xfrm>
                <a:off x="396025" y="589270"/>
                <a:ext cx="10269277" cy="3139321"/>
              </a:xfrm>
              <a:prstGeom prst="rect">
                <a:avLst/>
              </a:prstGeom>
              <a:noFill/>
            </p:spPr>
            <p:txBody>
              <a:bodyPr wrap="square">
                <a:spAutoFit/>
              </a:bodyPr>
              <a:lstStyle/>
              <a:p>
                <a:pPr lvl="1"/>
                <a:endParaRPr lang="en-US" dirty="0"/>
              </a:p>
              <a:p>
                <a:pPr lvl="1"/>
                <a:r>
                  <a:rPr lang="en-US" dirty="0"/>
                  <a:t>To measure change in number of forms documenting payments to Cayman entities before and after TCJA, as compared to changes in number of forms paid to other entities, we run the following:</a:t>
                </a:r>
              </a:p>
              <a:p>
                <a:pPr lvl="1"/>
                <a:endParaRPr lang="en-US" dirty="0"/>
              </a:p>
              <a:p>
                <a:pPr lvl="1"/>
                <a:r>
                  <a:rPr lang="en-US" dirty="0"/>
                  <a:t>Number of forms =  </a:t>
                </a:r>
                <a14:m>
                  <m:oMath xmlns:m="http://schemas.openxmlformats.org/officeDocument/2006/math">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𝑏</m:t>
                    </m:r>
                    <m:r>
                      <a:rPr lang="en-US" i="1">
                        <a:latin typeface="Cambria Math" panose="02040503050406030204" pitchFamily="18" charset="0"/>
                      </a:rPr>
                      <m:t>∗ </m:t>
                    </m:r>
                    <m:d>
                      <m:dPr>
                        <m:ctrlPr>
                          <a:rPr lang="en-US" i="1">
                            <a:latin typeface="Cambria Math" panose="02040503050406030204" pitchFamily="18" charset="0"/>
                          </a:rPr>
                        </m:ctrlPr>
                      </m:dPr>
                      <m:e>
                        <m:r>
                          <a:rPr lang="en-US" i="1">
                            <a:latin typeface="Cambria Math" panose="02040503050406030204" pitchFamily="18" charset="0"/>
                          </a:rPr>
                          <m:t>𝑎𝑓𝑡𝑒𝑟</m:t>
                        </m:r>
                        <m:r>
                          <a:rPr lang="en-US" i="1">
                            <a:latin typeface="Cambria Math" panose="02040503050406030204" pitchFamily="18" charset="0"/>
                          </a:rPr>
                          <m:t> </m:t>
                        </m:r>
                        <m:r>
                          <a:rPr lang="en-US" i="1">
                            <a:latin typeface="Cambria Math" panose="02040503050406030204" pitchFamily="18" charset="0"/>
                          </a:rPr>
                          <m:t>𝑇𝐶𝐽𝐴</m:t>
                        </m:r>
                      </m:e>
                    </m:d>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 </m:t>
                    </m:r>
                  </m:oMath>
                </a14:m>
                <a:r>
                  <a:rPr lang="en-US" i="1" dirty="0"/>
                  <a:t>(year) + d * (total U.S. source income) + e* (country) + f * (after TCJA &amp; Cayman) + g </a:t>
                </a:r>
              </a:p>
              <a:p>
                <a:pPr lvl="1"/>
                <a:endParaRPr lang="en-US" dirty="0"/>
              </a:p>
              <a:p>
                <a:pPr marL="742950" lvl="1" indent="-285750">
                  <a:buFont typeface="Arial" panose="020B0604020202020204" pitchFamily="34" charset="0"/>
                  <a:buChar char="•"/>
                </a:pPr>
                <a:r>
                  <a:rPr lang="en-US" dirty="0"/>
                  <a:t>Where a is the intercept and g is the residual</a:t>
                </a:r>
              </a:p>
              <a:p>
                <a:pPr marL="742950" lvl="1" indent="-285750">
                  <a:buFont typeface="Arial" panose="020B0604020202020204" pitchFamily="34" charset="0"/>
                  <a:buChar char="•"/>
                </a:pPr>
                <a:r>
                  <a:rPr lang="en-US" dirty="0"/>
                  <a:t>Countries included: Australia, Bermuda, British Virgin Islands, Canada, Cayman Islands, China, France, Germany, Hong Kong, Mexico, United Kingdom</a:t>
                </a:r>
              </a:p>
              <a:p>
                <a:pPr lvl="1"/>
                <a:endParaRPr lang="en-US" dirty="0"/>
              </a:p>
            </p:txBody>
          </p:sp>
        </mc:Choice>
        <mc:Fallback>
          <p:sp>
            <p:nvSpPr>
              <p:cNvPr id="5" name="TextBox 4">
                <a:extLst>
                  <a:ext uri="{FF2B5EF4-FFF2-40B4-BE49-F238E27FC236}">
                    <a16:creationId xmlns:a16="http://schemas.microsoft.com/office/drawing/2014/main" id="{F9743D17-9168-47BD-F3E3-FB89A89CA23C}"/>
                  </a:ext>
                </a:extLst>
              </p:cNvPr>
              <p:cNvSpPr txBox="1">
                <a:spLocks noRot="1" noChangeAspect="1" noMove="1" noResize="1" noEditPoints="1" noAdjustHandles="1" noChangeArrowheads="1" noChangeShapeType="1" noTextEdit="1"/>
              </p:cNvSpPr>
              <p:nvPr/>
            </p:nvSpPr>
            <p:spPr>
              <a:xfrm>
                <a:off x="396025" y="589270"/>
                <a:ext cx="10269277" cy="3139321"/>
              </a:xfrm>
              <a:prstGeom prst="rect">
                <a:avLst/>
              </a:prstGeom>
              <a:blipFill>
                <a:blip r:embed="rId3"/>
                <a:stretch>
                  <a:fillRect r="-772"/>
                </a:stretch>
              </a:blipFill>
            </p:spPr>
            <p:txBody>
              <a:bodyPr/>
              <a:lstStyle/>
              <a:p>
                <a:r>
                  <a:rPr lang="en-US">
                    <a:noFill/>
                  </a:rPr>
                  <a:t> </a:t>
                </a:r>
              </a:p>
            </p:txBody>
          </p:sp>
        </mc:Fallback>
      </mc:AlternateContent>
    </p:spTree>
    <p:extLst>
      <p:ext uri="{BB962C8B-B14F-4D97-AF65-F5344CB8AC3E}">
        <p14:creationId xmlns:p14="http://schemas.microsoft.com/office/powerpoint/2010/main" val="3310260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FA19C-DDD7-DC71-70A5-D611D0F16ECC}"/>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CD6B533-107E-2644-A0E6-4ABCA8D02396}"/>
              </a:ext>
            </a:extLst>
          </p:cNvPr>
          <p:cNvSpPr txBox="1">
            <a:spLocks/>
          </p:cNvSpPr>
          <p:nvPr/>
        </p:nvSpPr>
        <p:spPr>
          <a:xfrm>
            <a:off x="396026" y="206618"/>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Forms 1042-S Results</a:t>
            </a:r>
            <a:endParaRPr lang="en-US" sz="2400" dirty="0"/>
          </a:p>
        </p:txBody>
      </p:sp>
      <p:sp>
        <p:nvSpPr>
          <p:cNvPr id="80" name="Slide Number Placeholder 79">
            <a:extLst>
              <a:ext uri="{FF2B5EF4-FFF2-40B4-BE49-F238E27FC236}">
                <a16:creationId xmlns:a16="http://schemas.microsoft.com/office/drawing/2014/main" id="{6E1BFE36-4B81-EDFF-E8A5-1BFFD2D7ACCD}"/>
              </a:ext>
            </a:extLst>
          </p:cNvPr>
          <p:cNvSpPr>
            <a:spLocks noGrp="1"/>
          </p:cNvSpPr>
          <p:nvPr>
            <p:ph type="sldNum" sz="quarter" idx="12"/>
          </p:nvPr>
        </p:nvSpPr>
        <p:spPr/>
        <p:txBody>
          <a:bodyPr/>
          <a:lstStyle/>
          <a:p>
            <a:fld id="{ADDA9D34-D8EF-4237-948B-BB7FF2FABC7B}" type="slidenum">
              <a:rPr lang="en-US" smtClean="0"/>
              <a:t>24</a:t>
            </a:fld>
            <a:endParaRPr lang="en-US"/>
          </a:p>
        </p:txBody>
      </p:sp>
      <p:sp>
        <p:nvSpPr>
          <p:cNvPr id="12" name="TextBox 11">
            <a:extLst>
              <a:ext uri="{FF2B5EF4-FFF2-40B4-BE49-F238E27FC236}">
                <a16:creationId xmlns:a16="http://schemas.microsoft.com/office/drawing/2014/main" id="{27D5397A-2822-FB58-CC03-0F3BF40B6F26}"/>
              </a:ext>
            </a:extLst>
          </p:cNvPr>
          <p:cNvSpPr txBox="1"/>
          <p:nvPr/>
        </p:nvSpPr>
        <p:spPr>
          <a:xfrm>
            <a:off x="910957"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79506B78-8259-C1E3-BE1B-6C1F9FE572FE}"/>
              </a:ext>
            </a:extLst>
          </p:cNvPr>
          <p:cNvSpPr txBox="1"/>
          <p:nvPr/>
        </p:nvSpPr>
        <p:spPr>
          <a:xfrm>
            <a:off x="396025" y="589270"/>
            <a:ext cx="10269277" cy="923330"/>
          </a:xfrm>
          <a:prstGeom prst="rect">
            <a:avLst/>
          </a:prstGeom>
          <a:noFill/>
        </p:spPr>
        <p:txBody>
          <a:bodyPr wrap="square">
            <a:spAutoFit/>
          </a:bodyPr>
          <a:lstStyle/>
          <a:p>
            <a:pPr lvl="1"/>
            <a:endParaRPr lang="en-US" dirty="0"/>
          </a:p>
          <a:p>
            <a:pPr marL="742950" lvl="1" indent="-285750">
              <a:buFont typeface="Arial" panose="020B0604020202020204" pitchFamily="34" charset="0"/>
              <a:buChar char="•"/>
            </a:pPr>
            <a:r>
              <a:rPr lang="en-US" dirty="0"/>
              <a:t>Number of forms documenting payments to Cayman entities increased after TCJA</a:t>
            </a:r>
          </a:p>
          <a:p>
            <a:pPr lvl="1"/>
            <a:endParaRPr lang="en-US" dirty="0"/>
          </a:p>
        </p:txBody>
      </p:sp>
      <p:pic>
        <p:nvPicPr>
          <p:cNvPr id="3" name="Picture 2">
            <a:extLst>
              <a:ext uri="{FF2B5EF4-FFF2-40B4-BE49-F238E27FC236}">
                <a16:creationId xmlns:a16="http://schemas.microsoft.com/office/drawing/2014/main" id="{F6EB7553-2EE2-58A0-6B03-2A7F72423D0E}"/>
              </a:ext>
            </a:extLst>
          </p:cNvPr>
          <p:cNvPicPr>
            <a:picLocks noChangeAspect="1"/>
          </p:cNvPicPr>
          <p:nvPr/>
        </p:nvPicPr>
        <p:blipFill>
          <a:blip r:embed="rId3"/>
          <a:stretch>
            <a:fillRect/>
          </a:stretch>
        </p:blipFill>
        <p:spPr>
          <a:xfrm>
            <a:off x="2987815" y="1512600"/>
            <a:ext cx="5317836" cy="4287899"/>
          </a:xfrm>
          <a:prstGeom prst="rect">
            <a:avLst/>
          </a:prstGeom>
        </p:spPr>
      </p:pic>
    </p:spTree>
    <p:extLst>
      <p:ext uri="{BB962C8B-B14F-4D97-AF65-F5344CB8AC3E}">
        <p14:creationId xmlns:p14="http://schemas.microsoft.com/office/powerpoint/2010/main" val="2353200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88039-6282-E930-86E1-5A4F6619EEB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9BFD5E03-B5D2-A1EE-9CBF-BF3223F9D717}"/>
              </a:ext>
            </a:extLst>
          </p:cNvPr>
          <p:cNvSpPr txBox="1">
            <a:spLocks/>
          </p:cNvSpPr>
          <p:nvPr/>
        </p:nvSpPr>
        <p:spPr>
          <a:xfrm>
            <a:off x="396026" y="206618"/>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Forms 1042-S Results</a:t>
            </a:r>
            <a:endParaRPr lang="en-US" sz="2400" dirty="0"/>
          </a:p>
        </p:txBody>
      </p:sp>
      <p:sp>
        <p:nvSpPr>
          <p:cNvPr id="80" name="Slide Number Placeholder 79">
            <a:extLst>
              <a:ext uri="{FF2B5EF4-FFF2-40B4-BE49-F238E27FC236}">
                <a16:creationId xmlns:a16="http://schemas.microsoft.com/office/drawing/2014/main" id="{68F9A35A-60F6-17D4-8DA9-F69E4F302A05}"/>
              </a:ext>
            </a:extLst>
          </p:cNvPr>
          <p:cNvSpPr>
            <a:spLocks noGrp="1"/>
          </p:cNvSpPr>
          <p:nvPr>
            <p:ph type="sldNum" sz="quarter" idx="12"/>
          </p:nvPr>
        </p:nvSpPr>
        <p:spPr/>
        <p:txBody>
          <a:bodyPr/>
          <a:lstStyle/>
          <a:p>
            <a:fld id="{ADDA9D34-D8EF-4237-948B-BB7FF2FABC7B}" type="slidenum">
              <a:rPr lang="en-US" smtClean="0"/>
              <a:t>25</a:t>
            </a:fld>
            <a:endParaRPr lang="en-US"/>
          </a:p>
        </p:txBody>
      </p:sp>
      <p:sp>
        <p:nvSpPr>
          <p:cNvPr id="12" name="TextBox 11">
            <a:extLst>
              <a:ext uri="{FF2B5EF4-FFF2-40B4-BE49-F238E27FC236}">
                <a16:creationId xmlns:a16="http://schemas.microsoft.com/office/drawing/2014/main" id="{0F5693CB-5298-71E7-E992-3BFB0FE3BAF5}"/>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FCFF66BD-9BFE-95F8-7B95-FBAB7D9D7B58}"/>
              </a:ext>
            </a:extLst>
          </p:cNvPr>
          <p:cNvSpPr txBox="1"/>
          <p:nvPr/>
        </p:nvSpPr>
        <p:spPr>
          <a:xfrm>
            <a:off x="93444" y="753531"/>
            <a:ext cx="11766146" cy="369332"/>
          </a:xfrm>
          <a:prstGeom prst="rect">
            <a:avLst/>
          </a:prstGeom>
          <a:noFill/>
        </p:spPr>
        <p:txBody>
          <a:bodyPr wrap="square">
            <a:spAutoFit/>
          </a:bodyPr>
          <a:lstStyle/>
          <a:p>
            <a:pPr lvl="1"/>
            <a:r>
              <a:rPr lang="en-US" dirty="0"/>
              <a:t>However, statistical significance went away when the regression was run with </a:t>
            </a:r>
            <a:r>
              <a:rPr lang="en-US" i="1" dirty="0"/>
              <a:t>log</a:t>
            </a:r>
            <a:r>
              <a:rPr lang="en-US" dirty="0"/>
              <a:t> number of forms instead.  </a:t>
            </a:r>
          </a:p>
        </p:txBody>
      </p:sp>
      <p:pic>
        <p:nvPicPr>
          <p:cNvPr id="2" name="Picture 1">
            <a:extLst>
              <a:ext uri="{FF2B5EF4-FFF2-40B4-BE49-F238E27FC236}">
                <a16:creationId xmlns:a16="http://schemas.microsoft.com/office/drawing/2014/main" id="{7B20BEDB-1ABA-C38A-20B6-0E9F10F1C783}"/>
              </a:ext>
            </a:extLst>
          </p:cNvPr>
          <p:cNvPicPr>
            <a:picLocks noChangeAspect="1"/>
          </p:cNvPicPr>
          <p:nvPr/>
        </p:nvPicPr>
        <p:blipFill>
          <a:blip r:embed="rId3"/>
          <a:stretch>
            <a:fillRect/>
          </a:stretch>
        </p:blipFill>
        <p:spPr>
          <a:xfrm>
            <a:off x="2391758" y="1434847"/>
            <a:ext cx="7169518" cy="4921503"/>
          </a:xfrm>
          <a:prstGeom prst="rect">
            <a:avLst/>
          </a:prstGeom>
        </p:spPr>
      </p:pic>
    </p:spTree>
    <p:extLst>
      <p:ext uri="{BB962C8B-B14F-4D97-AF65-F5344CB8AC3E}">
        <p14:creationId xmlns:p14="http://schemas.microsoft.com/office/powerpoint/2010/main" val="12594415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94407-AE2D-013D-CFDA-3122D7C2C96C}"/>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CC7D3A35-B398-BE86-17E8-C07F803B8EC4}"/>
              </a:ext>
            </a:extLst>
          </p:cNvPr>
          <p:cNvSpPr txBox="1">
            <a:spLocks/>
          </p:cNvSpPr>
          <p:nvPr/>
        </p:nvSpPr>
        <p:spPr>
          <a:xfrm>
            <a:off x="396026" y="206618"/>
            <a:ext cx="3952642"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5.  Forms 1042-S Results</a:t>
            </a:r>
            <a:endParaRPr lang="en-US" sz="2400" dirty="0"/>
          </a:p>
        </p:txBody>
      </p:sp>
      <p:sp>
        <p:nvSpPr>
          <p:cNvPr id="80" name="Slide Number Placeholder 79">
            <a:extLst>
              <a:ext uri="{FF2B5EF4-FFF2-40B4-BE49-F238E27FC236}">
                <a16:creationId xmlns:a16="http://schemas.microsoft.com/office/drawing/2014/main" id="{EB908FD8-8EF3-2AE8-D9B7-BDE1FB981B3A}"/>
              </a:ext>
            </a:extLst>
          </p:cNvPr>
          <p:cNvSpPr>
            <a:spLocks noGrp="1"/>
          </p:cNvSpPr>
          <p:nvPr>
            <p:ph type="sldNum" sz="quarter" idx="12"/>
          </p:nvPr>
        </p:nvSpPr>
        <p:spPr/>
        <p:txBody>
          <a:bodyPr/>
          <a:lstStyle/>
          <a:p>
            <a:fld id="{ADDA9D34-D8EF-4237-948B-BB7FF2FABC7B}" type="slidenum">
              <a:rPr lang="en-US" smtClean="0"/>
              <a:t>26</a:t>
            </a:fld>
            <a:endParaRPr lang="en-US"/>
          </a:p>
        </p:txBody>
      </p:sp>
      <p:sp>
        <p:nvSpPr>
          <p:cNvPr id="12" name="TextBox 11">
            <a:extLst>
              <a:ext uri="{FF2B5EF4-FFF2-40B4-BE49-F238E27FC236}">
                <a16:creationId xmlns:a16="http://schemas.microsoft.com/office/drawing/2014/main" id="{3F7C7B54-D627-4361-95D0-54D212CBB930}"/>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7F57B8ED-60B0-FE52-9389-D8581D2CEBF6}"/>
              </a:ext>
            </a:extLst>
          </p:cNvPr>
          <p:cNvSpPr txBox="1"/>
          <p:nvPr/>
        </p:nvSpPr>
        <p:spPr>
          <a:xfrm>
            <a:off x="330510" y="1457300"/>
            <a:ext cx="11766146" cy="1754326"/>
          </a:xfrm>
          <a:prstGeom prst="rect">
            <a:avLst/>
          </a:prstGeom>
          <a:noFill/>
        </p:spPr>
        <p:txBody>
          <a:bodyPr wrap="square">
            <a:spAutoFit/>
          </a:bodyPr>
          <a:lstStyle/>
          <a:p>
            <a:pPr lvl="1"/>
            <a:r>
              <a:rPr lang="en-US" dirty="0"/>
              <a:t>Possible reasons for insignificance:  in the post-TCJA structure, forms may be reported as issued to a Cayman partnership (e.g. if the Cayman partnership applied to be a withholding foreign partnership), or, rather, to the partners of the Cayman partnership.  If the former, the number of forms to Cayman entities would not change before and after TCJA.  In addition, data is not limited to type of industry or size of investment fund, which would impact number of borrowers and number (and size) of investors.  My hypothesis would only be true for very large investment funds.</a:t>
            </a:r>
          </a:p>
        </p:txBody>
      </p:sp>
    </p:spTree>
    <p:extLst>
      <p:ext uri="{BB962C8B-B14F-4D97-AF65-F5344CB8AC3E}">
        <p14:creationId xmlns:p14="http://schemas.microsoft.com/office/powerpoint/2010/main" val="35939922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0396B-DE86-33BB-BBEF-D54E7227F7D9}"/>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6DFB8305-B919-8F54-9D83-709E2A3DB857}"/>
              </a:ext>
            </a:extLst>
          </p:cNvPr>
          <p:cNvSpPr txBox="1">
            <a:spLocks/>
          </p:cNvSpPr>
          <p:nvPr/>
        </p:nvSpPr>
        <p:spPr>
          <a:xfrm>
            <a:off x="445187" y="317122"/>
            <a:ext cx="8423510" cy="4864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Foreign corporations receive most of the interest income  </a:t>
            </a:r>
            <a:endParaRPr lang="en-US" sz="2400" dirty="0"/>
          </a:p>
        </p:txBody>
      </p:sp>
      <p:sp>
        <p:nvSpPr>
          <p:cNvPr id="80" name="Slide Number Placeholder 79">
            <a:extLst>
              <a:ext uri="{FF2B5EF4-FFF2-40B4-BE49-F238E27FC236}">
                <a16:creationId xmlns:a16="http://schemas.microsoft.com/office/drawing/2014/main" id="{7645B357-AF91-D756-30EB-B2792D0FE766}"/>
              </a:ext>
            </a:extLst>
          </p:cNvPr>
          <p:cNvSpPr>
            <a:spLocks noGrp="1"/>
          </p:cNvSpPr>
          <p:nvPr>
            <p:ph type="sldNum" sz="quarter" idx="12"/>
          </p:nvPr>
        </p:nvSpPr>
        <p:spPr/>
        <p:txBody>
          <a:bodyPr/>
          <a:lstStyle/>
          <a:p>
            <a:fld id="{ADDA9D34-D8EF-4237-948B-BB7FF2FABC7B}" type="slidenum">
              <a:rPr lang="en-US" smtClean="0"/>
              <a:t>27</a:t>
            </a:fld>
            <a:endParaRPr lang="en-US"/>
          </a:p>
        </p:txBody>
      </p:sp>
      <p:sp>
        <p:nvSpPr>
          <p:cNvPr id="12" name="TextBox 11">
            <a:extLst>
              <a:ext uri="{FF2B5EF4-FFF2-40B4-BE49-F238E27FC236}">
                <a16:creationId xmlns:a16="http://schemas.microsoft.com/office/drawing/2014/main" id="{E79FA617-ECA4-2466-1474-12F6A6188AB2}"/>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pic>
        <p:nvPicPr>
          <p:cNvPr id="2" name="Content Placeholder 6" descr="A graph showing the number of individuals&#10;&#10;AI-generated content may be incorrect.">
            <a:extLst>
              <a:ext uri="{FF2B5EF4-FFF2-40B4-BE49-F238E27FC236}">
                <a16:creationId xmlns:a16="http://schemas.microsoft.com/office/drawing/2014/main" id="{2AC7B523-2D2E-A2BB-4732-F02DF7124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974" y="2230012"/>
            <a:ext cx="5053991" cy="3025656"/>
          </a:xfrm>
          <a:prstGeom prst="rect">
            <a:avLst/>
          </a:prstGeom>
        </p:spPr>
      </p:pic>
      <p:pic>
        <p:nvPicPr>
          <p:cNvPr id="3" name="Content Placeholder 5" descr="A graph with a line graph&#10;&#10;AI-generated content may be incorrect.">
            <a:extLst>
              <a:ext uri="{FF2B5EF4-FFF2-40B4-BE49-F238E27FC236}">
                <a16:creationId xmlns:a16="http://schemas.microsoft.com/office/drawing/2014/main" id="{CC5CCCF3-1D33-FD5B-97A4-CD72141041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2014" y="2230013"/>
            <a:ext cx="5053990" cy="3025656"/>
          </a:xfrm>
          <a:prstGeom prst="rect">
            <a:avLst/>
          </a:prstGeom>
        </p:spPr>
      </p:pic>
    </p:spTree>
    <p:extLst>
      <p:ext uri="{BB962C8B-B14F-4D97-AF65-F5344CB8AC3E}">
        <p14:creationId xmlns:p14="http://schemas.microsoft.com/office/powerpoint/2010/main" val="25113398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5EB7F-1DA9-5A10-3D3B-11507A31A2F5}"/>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892CB789-31F9-FB51-387F-36CB3F0EEA7D}"/>
              </a:ext>
            </a:extLst>
          </p:cNvPr>
          <p:cNvSpPr txBox="1">
            <a:spLocks/>
          </p:cNvSpPr>
          <p:nvPr/>
        </p:nvSpPr>
        <p:spPr>
          <a:xfrm>
            <a:off x="445187" y="317122"/>
            <a:ext cx="10885016" cy="101819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u="sng" dirty="0"/>
              <a:t>Foreign corporations also receive most of the U.S. source income, but withholding foreign partnerships’ share is increasing  </a:t>
            </a:r>
            <a:endParaRPr lang="en-US" sz="2400" dirty="0"/>
          </a:p>
        </p:txBody>
      </p:sp>
      <p:sp>
        <p:nvSpPr>
          <p:cNvPr id="80" name="Slide Number Placeholder 79">
            <a:extLst>
              <a:ext uri="{FF2B5EF4-FFF2-40B4-BE49-F238E27FC236}">
                <a16:creationId xmlns:a16="http://schemas.microsoft.com/office/drawing/2014/main" id="{337B50B1-7170-EC6D-F348-800FE63662DA}"/>
              </a:ext>
            </a:extLst>
          </p:cNvPr>
          <p:cNvSpPr>
            <a:spLocks noGrp="1"/>
          </p:cNvSpPr>
          <p:nvPr>
            <p:ph type="sldNum" sz="quarter" idx="12"/>
          </p:nvPr>
        </p:nvSpPr>
        <p:spPr/>
        <p:txBody>
          <a:bodyPr/>
          <a:lstStyle/>
          <a:p>
            <a:fld id="{ADDA9D34-D8EF-4237-948B-BB7FF2FABC7B}" type="slidenum">
              <a:rPr lang="en-US" smtClean="0"/>
              <a:t>28</a:t>
            </a:fld>
            <a:endParaRPr lang="en-US"/>
          </a:p>
        </p:txBody>
      </p:sp>
      <p:pic>
        <p:nvPicPr>
          <p:cNvPr id="3" name="Picture 2" descr="A graph with red line and blue line&#10;&#10;AI-generated content may be incorrect.">
            <a:extLst>
              <a:ext uri="{FF2B5EF4-FFF2-40B4-BE49-F238E27FC236}">
                <a16:creationId xmlns:a16="http://schemas.microsoft.com/office/drawing/2014/main" id="{0A4C57D0-0AAC-E487-DEDC-B26EC0FC40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454" y="4412481"/>
            <a:ext cx="5785746" cy="1770438"/>
          </a:xfrm>
          <a:prstGeom prst="rect">
            <a:avLst/>
          </a:prstGeom>
        </p:spPr>
      </p:pic>
      <p:pic>
        <p:nvPicPr>
          <p:cNvPr id="7" name="Picture 6" descr="A graph of different colored lines&#10;&#10;AI-generated content may be incorrect.">
            <a:extLst>
              <a:ext uri="{FF2B5EF4-FFF2-40B4-BE49-F238E27FC236}">
                <a16:creationId xmlns:a16="http://schemas.microsoft.com/office/drawing/2014/main" id="{B9078DF2-DC78-369C-E91E-C192BF0124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32416" y="1866962"/>
            <a:ext cx="6434117" cy="2461050"/>
          </a:xfrm>
          <a:prstGeom prst="rect">
            <a:avLst/>
          </a:prstGeom>
        </p:spPr>
      </p:pic>
    </p:spTree>
    <p:extLst>
      <p:ext uri="{BB962C8B-B14F-4D97-AF65-F5344CB8AC3E}">
        <p14:creationId xmlns:p14="http://schemas.microsoft.com/office/powerpoint/2010/main" val="21365435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B5F3D-88B2-F4CA-06ED-54E14B44D6F0}"/>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7CFFB663-B1CC-E991-FA7C-90042BE41F63}"/>
              </a:ext>
            </a:extLst>
          </p:cNvPr>
          <p:cNvSpPr txBox="1">
            <a:spLocks/>
          </p:cNvSpPr>
          <p:nvPr/>
        </p:nvSpPr>
        <p:spPr>
          <a:xfrm>
            <a:off x="530413" y="3091918"/>
            <a:ext cx="9986839" cy="48644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457200" indent="-457200" algn="l">
              <a:buAutoNum type="arabicPeriod" startAt="5"/>
            </a:pPr>
            <a:r>
              <a:rPr lang="en-US" sz="2000" u="sng" dirty="0"/>
              <a:t>Payments to withholding foreign partnerships</a:t>
            </a:r>
          </a:p>
          <a:p>
            <a:pPr algn="l"/>
            <a:endParaRPr lang="en-US" sz="2000" u="sng" dirty="0"/>
          </a:p>
          <a:p>
            <a:pPr algn="l"/>
            <a:r>
              <a:rPr lang="en-US" sz="2000" dirty="0"/>
              <a:t>To see if number of forms documenting payments to withholding foreign partnerships changed after TCJA, as compared to payments to other types of entities, I also ran the following regression:</a:t>
            </a:r>
          </a:p>
          <a:p>
            <a:pPr algn="l"/>
            <a:endParaRPr lang="en-US" sz="2000" dirty="0"/>
          </a:p>
          <a:p>
            <a:pPr algn="l"/>
            <a:r>
              <a:rPr lang="en-US" sz="2000" dirty="0"/>
              <a:t>Log(number of forms 1042s) = a + b * (after TCJA) + c * year + d * (log (total U.S. source income)) + e * recipient type + f * (after TCJA &amp; withholding foreign partnerships)</a:t>
            </a:r>
          </a:p>
          <a:p>
            <a:pPr algn="l"/>
            <a:endParaRPr lang="en-US" sz="2000" dirty="0"/>
          </a:p>
          <a:p>
            <a:pPr algn="l"/>
            <a:r>
              <a:rPr lang="en-US" sz="2000" dirty="0"/>
              <a:t>Forms for payments to foreign partnerships increased by e^59%=1.8x after TCJA, with statistical significance.</a:t>
            </a:r>
          </a:p>
          <a:p>
            <a:pPr algn="l"/>
            <a:endParaRPr lang="en-US" sz="2000" dirty="0"/>
          </a:p>
        </p:txBody>
      </p:sp>
      <p:sp>
        <p:nvSpPr>
          <p:cNvPr id="80" name="Slide Number Placeholder 79">
            <a:extLst>
              <a:ext uri="{FF2B5EF4-FFF2-40B4-BE49-F238E27FC236}">
                <a16:creationId xmlns:a16="http://schemas.microsoft.com/office/drawing/2014/main" id="{800A0A0F-73BE-2336-61B0-B25DAF425E44}"/>
              </a:ext>
            </a:extLst>
          </p:cNvPr>
          <p:cNvSpPr>
            <a:spLocks noGrp="1"/>
          </p:cNvSpPr>
          <p:nvPr>
            <p:ph type="sldNum" sz="quarter" idx="12"/>
          </p:nvPr>
        </p:nvSpPr>
        <p:spPr/>
        <p:txBody>
          <a:bodyPr/>
          <a:lstStyle/>
          <a:p>
            <a:fld id="{ADDA9D34-D8EF-4237-948B-BB7FF2FABC7B}" type="slidenum">
              <a:rPr lang="en-US" smtClean="0"/>
              <a:t>29</a:t>
            </a:fld>
            <a:endParaRPr lang="en-US"/>
          </a:p>
        </p:txBody>
      </p:sp>
    </p:spTree>
    <p:extLst>
      <p:ext uri="{BB962C8B-B14F-4D97-AF65-F5344CB8AC3E}">
        <p14:creationId xmlns:p14="http://schemas.microsoft.com/office/powerpoint/2010/main" val="33192062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5C89C-B3FA-DEAF-FFDF-3F27D357190E}"/>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C48C76B1-94B1-4123-35D6-CADEE8E68421}"/>
              </a:ext>
            </a:extLst>
          </p:cNvPr>
          <p:cNvSpPr txBox="1">
            <a:spLocks/>
          </p:cNvSpPr>
          <p:nvPr/>
        </p:nvSpPr>
        <p:spPr>
          <a:xfrm>
            <a:off x="429002" y="243415"/>
            <a:ext cx="9986839" cy="48644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en-US" sz="1200" dirty="0"/>
          </a:p>
        </p:txBody>
      </p:sp>
      <p:sp>
        <p:nvSpPr>
          <p:cNvPr id="80" name="Slide Number Placeholder 79">
            <a:extLst>
              <a:ext uri="{FF2B5EF4-FFF2-40B4-BE49-F238E27FC236}">
                <a16:creationId xmlns:a16="http://schemas.microsoft.com/office/drawing/2014/main" id="{753E3F39-F69A-36D4-8928-431DEA29CC2E}"/>
              </a:ext>
            </a:extLst>
          </p:cNvPr>
          <p:cNvSpPr>
            <a:spLocks noGrp="1"/>
          </p:cNvSpPr>
          <p:nvPr>
            <p:ph type="sldNum" sz="quarter" idx="12"/>
          </p:nvPr>
        </p:nvSpPr>
        <p:spPr/>
        <p:txBody>
          <a:bodyPr/>
          <a:lstStyle/>
          <a:p>
            <a:fld id="{ADDA9D34-D8EF-4237-948B-BB7FF2FABC7B}" type="slidenum">
              <a:rPr lang="en-US" smtClean="0"/>
              <a:t>30</a:t>
            </a:fld>
            <a:endParaRPr lang="en-US"/>
          </a:p>
        </p:txBody>
      </p:sp>
      <p:sp>
        <p:nvSpPr>
          <p:cNvPr id="12" name="TextBox 11">
            <a:extLst>
              <a:ext uri="{FF2B5EF4-FFF2-40B4-BE49-F238E27FC236}">
                <a16:creationId xmlns:a16="http://schemas.microsoft.com/office/drawing/2014/main" id="{20CCB842-421C-8DBB-61E5-9315DBFB6365}"/>
              </a:ext>
            </a:extLst>
          </p:cNvPr>
          <p:cNvSpPr txBox="1"/>
          <p:nvPr/>
        </p:nvSpPr>
        <p:spPr>
          <a:xfrm>
            <a:off x="534009" y="950979"/>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pic>
        <p:nvPicPr>
          <p:cNvPr id="3" name="Picture 2">
            <a:extLst>
              <a:ext uri="{FF2B5EF4-FFF2-40B4-BE49-F238E27FC236}">
                <a16:creationId xmlns:a16="http://schemas.microsoft.com/office/drawing/2014/main" id="{17D98EAF-E240-4234-51AD-BD1D5EF819EC}"/>
              </a:ext>
            </a:extLst>
          </p:cNvPr>
          <p:cNvPicPr>
            <a:picLocks noChangeAspect="1"/>
          </p:cNvPicPr>
          <p:nvPr/>
        </p:nvPicPr>
        <p:blipFill>
          <a:blip r:embed="rId3"/>
          <a:stretch>
            <a:fillRect/>
          </a:stretch>
        </p:blipFill>
        <p:spPr>
          <a:xfrm>
            <a:off x="2142922" y="729857"/>
            <a:ext cx="7906156" cy="5816899"/>
          </a:xfrm>
          <a:prstGeom prst="rect">
            <a:avLst/>
          </a:prstGeom>
        </p:spPr>
      </p:pic>
      <p:sp>
        <p:nvSpPr>
          <p:cNvPr id="4" name="TextBox 3">
            <a:extLst>
              <a:ext uri="{FF2B5EF4-FFF2-40B4-BE49-F238E27FC236}">
                <a16:creationId xmlns:a16="http://schemas.microsoft.com/office/drawing/2014/main" id="{FEA4B973-2037-BC4F-AD3B-48CF23F5478D}"/>
              </a:ext>
            </a:extLst>
          </p:cNvPr>
          <p:cNvSpPr txBox="1"/>
          <p:nvPr/>
        </p:nvSpPr>
        <p:spPr>
          <a:xfrm>
            <a:off x="734352" y="243415"/>
            <a:ext cx="6097348" cy="369332"/>
          </a:xfrm>
          <a:prstGeom prst="rect">
            <a:avLst/>
          </a:prstGeom>
          <a:noFill/>
        </p:spPr>
        <p:txBody>
          <a:bodyPr wrap="square">
            <a:spAutoFit/>
          </a:bodyPr>
          <a:lstStyle/>
          <a:p>
            <a:pPr marL="457200" indent="-457200" algn="l">
              <a:buAutoNum type="arabicPeriod" startAt="5"/>
            </a:pPr>
            <a:r>
              <a:rPr lang="en-US" sz="1800" u="sng" dirty="0"/>
              <a:t>Payments to withholding foreign partnerships</a:t>
            </a:r>
          </a:p>
        </p:txBody>
      </p:sp>
    </p:spTree>
    <p:extLst>
      <p:ext uri="{BB962C8B-B14F-4D97-AF65-F5344CB8AC3E}">
        <p14:creationId xmlns:p14="http://schemas.microsoft.com/office/powerpoint/2010/main" val="26374208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71E0E-F663-0F55-E7A2-25DD84AD2925}"/>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D0A15D0E-C0B0-32FD-3F34-B6D7CA101A39}"/>
              </a:ext>
            </a:extLst>
          </p:cNvPr>
          <p:cNvSpPr txBox="1">
            <a:spLocks/>
          </p:cNvSpPr>
          <p:nvPr/>
        </p:nvSpPr>
        <p:spPr>
          <a:xfrm>
            <a:off x="631179" y="1908682"/>
            <a:ext cx="8967177" cy="486442"/>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457200" indent="-457200" algn="l">
              <a:buAutoNum type="arabicPeriod" startAt="5"/>
            </a:pPr>
            <a:r>
              <a:rPr lang="en-US" sz="2000" u="sng" dirty="0"/>
              <a:t>Payments to withholding foreign partnerships</a:t>
            </a:r>
          </a:p>
          <a:p>
            <a:pPr algn="l"/>
            <a:endParaRPr lang="en-US" sz="2000" u="sng" dirty="0"/>
          </a:p>
          <a:p>
            <a:pPr algn="l"/>
            <a:r>
              <a:rPr lang="en-US" sz="2000" dirty="0"/>
              <a:t>Larger investment funds can afford the personnel to make the withholding foreign partnership election and apply the withholding procedures.  Increasing payments to withholding foreign partnership his may indicate that investment funds are increasing in size.</a:t>
            </a:r>
          </a:p>
          <a:p>
            <a:pPr algn="l"/>
            <a:endParaRPr lang="en-US" sz="2000" dirty="0"/>
          </a:p>
        </p:txBody>
      </p:sp>
      <p:sp>
        <p:nvSpPr>
          <p:cNvPr id="80" name="Slide Number Placeholder 79">
            <a:extLst>
              <a:ext uri="{FF2B5EF4-FFF2-40B4-BE49-F238E27FC236}">
                <a16:creationId xmlns:a16="http://schemas.microsoft.com/office/drawing/2014/main" id="{E5F6A65D-83F1-DF0A-194C-8F4001026865}"/>
              </a:ext>
            </a:extLst>
          </p:cNvPr>
          <p:cNvSpPr>
            <a:spLocks noGrp="1"/>
          </p:cNvSpPr>
          <p:nvPr>
            <p:ph type="sldNum" sz="quarter" idx="12"/>
          </p:nvPr>
        </p:nvSpPr>
        <p:spPr/>
        <p:txBody>
          <a:bodyPr/>
          <a:lstStyle/>
          <a:p>
            <a:fld id="{ADDA9D34-D8EF-4237-948B-BB7FF2FABC7B}" type="slidenum">
              <a:rPr lang="en-US" smtClean="0"/>
              <a:t>31</a:t>
            </a:fld>
            <a:endParaRPr lang="en-US"/>
          </a:p>
        </p:txBody>
      </p:sp>
      <p:sp>
        <p:nvSpPr>
          <p:cNvPr id="12" name="TextBox 11">
            <a:extLst>
              <a:ext uri="{FF2B5EF4-FFF2-40B4-BE49-F238E27FC236}">
                <a16:creationId xmlns:a16="http://schemas.microsoft.com/office/drawing/2014/main" id="{F50B8CD6-110C-5B2C-E47E-8CF3D36D6176}"/>
              </a:ext>
            </a:extLst>
          </p:cNvPr>
          <p:cNvSpPr txBox="1"/>
          <p:nvPr/>
        </p:nvSpPr>
        <p:spPr>
          <a:xfrm>
            <a:off x="307432" y="-92893"/>
            <a:ext cx="10885017" cy="1477328"/>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098308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5087</TotalTime>
  <Words>2158</Words>
  <Application>Microsoft Office PowerPoint</Application>
  <PresentationFormat>Widescreen</PresentationFormat>
  <Paragraphs>271</Paragraphs>
  <Slides>31</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DengXian</vt:lpstr>
      <vt:lpstr>Aptos</vt:lpstr>
      <vt:lpstr>Aptos Display</vt:lpstr>
      <vt:lpstr>Arial</vt:lpstr>
      <vt:lpstr>Cambria Math</vt:lpstr>
      <vt:lpstr>Office Theme</vt:lpstr>
      <vt:lpstr>Direct lending fund structures before and after TCJA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Carol Wang</dc:creator>
  <cp:lastModifiedBy>Carol Wang</cp:lastModifiedBy>
  <cp:revision>2</cp:revision>
  <dcterms:created xsi:type="dcterms:W3CDTF">2025-09-14T05:44:34Z</dcterms:created>
  <dcterms:modified xsi:type="dcterms:W3CDTF">2025-10-12T05:47:39Z</dcterms:modified>
</cp:coreProperties>
</file>